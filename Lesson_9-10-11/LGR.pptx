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28"/>
  </p:notesMasterIdLst>
  <p:handoutMasterIdLst>
    <p:handoutMasterId r:id="rId29"/>
  </p:handoutMasterIdLst>
  <p:sldIdLst>
    <p:sldId id="256" r:id="rId5"/>
    <p:sldId id="275" r:id="rId6"/>
    <p:sldId id="279" r:id="rId7"/>
    <p:sldId id="280" r:id="rId8"/>
    <p:sldId id="281" r:id="rId9"/>
    <p:sldId id="282" r:id="rId10"/>
    <p:sldId id="283" r:id="rId11"/>
    <p:sldId id="284" r:id="rId12"/>
    <p:sldId id="285" r:id="rId13"/>
    <p:sldId id="286" r:id="rId14"/>
    <p:sldId id="287" r:id="rId15"/>
    <p:sldId id="288" r:id="rId16"/>
    <p:sldId id="289" r:id="rId17"/>
    <p:sldId id="278" r:id="rId18"/>
    <p:sldId id="290" r:id="rId19"/>
    <p:sldId id="291" r:id="rId20"/>
    <p:sldId id="292" r:id="rId21"/>
    <p:sldId id="293" r:id="rId22"/>
    <p:sldId id="294" r:id="rId23"/>
    <p:sldId id="295" r:id="rId24"/>
    <p:sldId id="296" r:id="rId25"/>
    <p:sldId id="297" r:id="rId26"/>
    <p:sldId id="298" r:id="rId27"/>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279"/>
            <p14:sldId id="280"/>
            <p14:sldId id="281"/>
            <p14:sldId id="282"/>
            <p14:sldId id="283"/>
            <p14:sldId id="284"/>
            <p14:sldId id="285"/>
            <p14:sldId id="286"/>
            <p14:sldId id="287"/>
            <p14:sldId id="288"/>
            <p14:sldId id="289"/>
            <p14:sldId id="278"/>
            <p14:sldId id="290"/>
            <p14:sldId id="291"/>
            <p14:sldId id="292"/>
            <p14:sldId id="293"/>
            <p14:sldId id="294"/>
            <p14:sldId id="295"/>
            <p14:sldId id="296"/>
            <p14:sldId id="297"/>
            <p14:sldId id="2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3E1377-B542-455B-BA3D-8784162CF3CC}" v="25" dt="2025-11-08T13:29:53.88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96" y="8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346ECE53-D0EE-4664-97A2-EE5ED4BD15CE}"/>
    <pc:docChg chg="modSld">
      <pc:chgData name="JHEYSON FABIAN VILLAVISAN BUITRAGO" userId="e5ced5c2-d787-455d-b115-4f08a699b8c8" providerId="ADAL" clId="{346ECE53-D0EE-4664-97A2-EE5ED4BD15CE}" dt="2025-11-08T13:30:04.477" v="35" actId="20577"/>
      <pc:docMkLst>
        <pc:docMk/>
      </pc:docMkLst>
      <pc:sldChg chg="modSp">
        <pc:chgData name="JHEYSON FABIAN VILLAVISAN BUITRAGO" userId="e5ced5c2-d787-455d-b115-4f08a699b8c8" providerId="ADAL" clId="{346ECE53-D0EE-4664-97A2-EE5ED4BD15CE}" dt="2025-11-08T13:28:58.466" v="0"/>
        <pc:sldMkLst>
          <pc:docMk/>
          <pc:sldMk cId="0" sldId="256"/>
        </pc:sldMkLst>
        <pc:spChg chg="mod">
          <ac:chgData name="JHEYSON FABIAN VILLAVISAN BUITRAGO" userId="e5ced5c2-d787-455d-b115-4f08a699b8c8" providerId="ADAL" clId="{346ECE53-D0EE-4664-97A2-EE5ED4BD15CE}" dt="2025-11-08T13:28:58.466" v="0"/>
          <ac:spMkLst>
            <pc:docMk/>
            <pc:sldMk cId="0" sldId="256"/>
            <ac:spMk id="10" creationId="{0D52910C-C7FF-51AD-9B9D-1A390D5FFE1B}"/>
          </ac:spMkLst>
        </pc:spChg>
      </pc:sldChg>
      <pc:sldChg chg="modSp">
        <pc:chgData name="JHEYSON FABIAN VILLAVISAN BUITRAGO" userId="e5ced5c2-d787-455d-b115-4f08a699b8c8" providerId="ADAL" clId="{346ECE53-D0EE-4664-97A2-EE5ED4BD15CE}" dt="2025-11-08T13:29:01.335" v="1"/>
        <pc:sldMkLst>
          <pc:docMk/>
          <pc:sldMk cId="1450893007" sldId="275"/>
        </pc:sldMkLst>
        <pc:spChg chg="mod">
          <ac:chgData name="JHEYSON FABIAN VILLAVISAN BUITRAGO" userId="e5ced5c2-d787-455d-b115-4f08a699b8c8" providerId="ADAL" clId="{346ECE53-D0EE-4664-97A2-EE5ED4BD15CE}" dt="2025-11-08T13:29:01.335" v="1"/>
          <ac:spMkLst>
            <pc:docMk/>
            <pc:sldMk cId="1450893007" sldId="275"/>
            <ac:spMk id="5" creationId="{AD83FA30-4A3C-43B8-17CD-C08519129156}"/>
          </ac:spMkLst>
        </pc:spChg>
      </pc:sldChg>
      <pc:sldChg chg="modSp">
        <pc:chgData name="JHEYSON FABIAN VILLAVISAN BUITRAGO" userId="e5ced5c2-d787-455d-b115-4f08a699b8c8" providerId="ADAL" clId="{346ECE53-D0EE-4664-97A2-EE5ED4BD15CE}" dt="2025-11-08T13:29:38.744" v="15"/>
        <pc:sldMkLst>
          <pc:docMk/>
          <pc:sldMk cId="5827500" sldId="278"/>
        </pc:sldMkLst>
        <pc:spChg chg="mod">
          <ac:chgData name="JHEYSON FABIAN VILLAVISAN BUITRAGO" userId="e5ced5c2-d787-455d-b115-4f08a699b8c8" providerId="ADAL" clId="{346ECE53-D0EE-4664-97A2-EE5ED4BD15CE}" dt="2025-11-08T13:29:38.744" v="15"/>
          <ac:spMkLst>
            <pc:docMk/>
            <pc:sldMk cId="5827500" sldId="278"/>
            <ac:spMk id="5" creationId="{AD83FA30-4A3C-43B8-17CD-C08519129156}"/>
          </ac:spMkLst>
        </pc:spChg>
      </pc:sldChg>
      <pc:sldChg chg="modSp">
        <pc:chgData name="JHEYSON FABIAN VILLAVISAN BUITRAGO" userId="e5ced5c2-d787-455d-b115-4f08a699b8c8" providerId="ADAL" clId="{346ECE53-D0EE-4664-97A2-EE5ED4BD15CE}" dt="2025-11-08T13:29:03.395" v="2"/>
        <pc:sldMkLst>
          <pc:docMk/>
          <pc:sldMk cId="1533627633" sldId="279"/>
        </pc:sldMkLst>
        <pc:spChg chg="mod">
          <ac:chgData name="JHEYSON FABIAN VILLAVISAN BUITRAGO" userId="e5ced5c2-d787-455d-b115-4f08a699b8c8" providerId="ADAL" clId="{346ECE53-D0EE-4664-97A2-EE5ED4BD15CE}" dt="2025-11-08T13:29:03.395" v="2"/>
          <ac:spMkLst>
            <pc:docMk/>
            <pc:sldMk cId="1533627633" sldId="279"/>
            <ac:spMk id="5" creationId="{AD83FA30-4A3C-43B8-17CD-C08519129156}"/>
          </ac:spMkLst>
        </pc:spChg>
      </pc:sldChg>
      <pc:sldChg chg="modSp">
        <pc:chgData name="JHEYSON FABIAN VILLAVISAN BUITRAGO" userId="e5ced5c2-d787-455d-b115-4f08a699b8c8" providerId="ADAL" clId="{346ECE53-D0EE-4664-97A2-EE5ED4BD15CE}" dt="2025-11-08T13:29:05.197" v="3"/>
        <pc:sldMkLst>
          <pc:docMk/>
          <pc:sldMk cId="3205148935" sldId="280"/>
        </pc:sldMkLst>
        <pc:spChg chg="mod">
          <ac:chgData name="JHEYSON FABIAN VILLAVISAN BUITRAGO" userId="e5ced5c2-d787-455d-b115-4f08a699b8c8" providerId="ADAL" clId="{346ECE53-D0EE-4664-97A2-EE5ED4BD15CE}" dt="2025-11-08T13:29:05.197" v="3"/>
          <ac:spMkLst>
            <pc:docMk/>
            <pc:sldMk cId="3205148935" sldId="280"/>
            <ac:spMk id="5" creationId="{AD83FA30-4A3C-43B8-17CD-C08519129156}"/>
          </ac:spMkLst>
        </pc:spChg>
      </pc:sldChg>
      <pc:sldChg chg="modSp">
        <pc:chgData name="JHEYSON FABIAN VILLAVISAN BUITRAGO" userId="e5ced5c2-d787-455d-b115-4f08a699b8c8" providerId="ADAL" clId="{346ECE53-D0EE-4664-97A2-EE5ED4BD15CE}" dt="2025-11-08T13:29:07.220" v="4"/>
        <pc:sldMkLst>
          <pc:docMk/>
          <pc:sldMk cId="2187732232" sldId="281"/>
        </pc:sldMkLst>
        <pc:spChg chg="mod">
          <ac:chgData name="JHEYSON FABIAN VILLAVISAN BUITRAGO" userId="e5ced5c2-d787-455d-b115-4f08a699b8c8" providerId="ADAL" clId="{346ECE53-D0EE-4664-97A2-EE5ED4BD15CE}" dt="2025-11-08T13:29:07.220" v="4"/>
          <ac:spMkLst>
            <pc:docMk/>
            <pc:sldMk cId="2187732232" sldId="281"/>
            <ac:spMk id="5" creationId="{AD83FA30-4A3C-43B8-17CD-C08519129156}"/>
          </ac:spMkLst>
        </pc:spChg>
      </pc:sldChg>
      <pc:sldChg chg="modSp">
        <pc:chgData name="JHEYSON FABIAN VILLAVISAN BUITRAGO" userId="e5ced5c2-d787-455d-b115-4f08a699b8c8" providerId="ADAL" clId="{346ECE53-D0EE-4664-97A2-EE5ED4BD15CE}" dt="2025-11-08T13:29:09.125" v="5"/>
        <pc:sldMkLst>
          <pc:docMk/>
          <pc:sldMk cId="963954886" sldId="282"/>
        </pc:sldMkLst>
        <pc:spChg chg="mod">
          <ac:chgData name="JHEYSON FABIAN VILLAVISAN BUITRAGO" userId="e5ced5c2-d787-455d-b115-4f08a699b8c8" providerId="ADAL" clId="{346ECE53-D0EE-4664-97A2-EE5ED4BD15CE}" dt="2025-11-08T13:29:09.125" v="5"/>
          <ac:spMkLst>
            <pc:docMk/>
            <pc:sldMk cId="963954886" sldId="282"/>
            <ac:spMk id="5" creationId="{AD83FA30-4A3C-43B8-17CD-C08519129156}"/>
          </ac:spMkLst>
        </pc:spChg>
      </pc:sldChg>
      <pc:sldChg chg="modSp">
        <pc:chgData name="JHEYSON FABIAN VILLAVISAN BUITRAGO" userId="e5ced5c2-d787-455d-b115-4f08a699b8c8" providerId="ADAL" clId="{346ECE53-D0EE-4664-97A2-EE5ED4BD15CE}" dt="2025-11-08T13:29:10.721" v="6"/>
        <pc:sldMkLst>
          <pc:docMk/>
          <pc:sldMk cId="1683850167" sldId="283"/>
        </pc:sldMkLst>
        <pc:spChg chg="mod">
          <ac:chgData name="JHEYSON FABIAN VILLAVISAN BUITRAGO" userId="e5ced5c2-d787-455d-b115-4f08a699b8c8" providerId="ADAL" clId="{346ECE53-D0EE-4664-97A2-EE5ED4BD15CE}" dt="2025-11-08T13:29:10.721" v="6"/>
          <ac:spMkLst>
            <pc:docMk/>
            <pc:sldMk cId="1683850167" sldId="283"/>
            <ac:spMk id="5" creationId="{AD83FA30-4A3C-43B8-17CD-C08519129156}"/>
          </ac:spMkLst>
        </pc:spChg>
      </pc:sldChg>
      <pc:sldChg chg="modSp">
        <pc:chgData name="JHEYSON FABIAN VILLAVISAN BUITRAGO" userId="e5ced5c2-d787-455d-b115-4f08a699b8c8" providerId="ADAL" clId="{346ECE53-D0EE-4664-97A2-EE5ED4BD15CE}" dt="2025-11-08T13:29:12.434" v="7"/>
        <pc:sldMkLst>
          <pc:docMk/>
          <pc:sldMk cId="3777981226" sldId="284"/>
        </pc:sldMkLst>
        <pc:spChg chg="mod">
          <ac:chgData name="JHEYSON FABIAN VILLAVISAN BUITRAGO" userId="e5ced5c2-d787-455d-b115-4f08a699b8c8" providerId="ADAL" clId="{346ECE53-D0EE-4664-97A2-EE5ED4BD15CE}" dt="2025-11-08T13:29:12.434" v="7"/>
          <ac:spMkLst>
            <pc:docMk/>
            <pc:sldMk cId="3777981226" sldId="284"/>
            <ac:spMk id="5" creationId="{AD83FA30-4A3C-43B8-17CD-C08519129156}"/>
          </ac:spMkLst>
        </pc:spChg>
      </pc:sldChg>
      <pc:sldChg chg="modSp">
        <pc:chgData name="JHEYSON FABIAN VILLAVISAN BUITRAGO" userId="e5ced5c2-d787-455d-b115-4f08a699b8c8" providerId="ADAL" clId="{346ECE53-D0EE-4664-97A2-EE5ED4BD15CE}" dt="2025-11-08T13:29:14.767" v="8"/>
        <pc:sldMkLst>
          <pc:docMk/>
          <pc:sldMk cId="1485939315" sldId="285"/>
        </pc:sldMkLst>
        <pc:spChg chg="mod">
          <ac:chgData name="JHEYSON FABIAN VILLAVISAN BUITRAGO" userId="e5ced5c2-d787-455d-b115-4f08a699b8c8" providerId="ADAL" clId="{346ECE53-D0EE-4664-97A2-EE5ED4BD15CE}" dt="2025-11-08T13:29:14.767" v="8"/>
          <ac:spMkLst>
            <pc:docMk/>
            <pc:sldMk cId="1485939315" sldId="285"/>
            <ac:spMk id="5" creationId="{AD83FA30-4A3C-43B8-17CD-C08519129156}"/>
          </ac:spMkLst>
        </pc:spChg>
      </pc:sldChg>
      <pc:sldChg chg="modSp">
        <pc:chgData name="JHEYSON FABIAN VILLAVISAN BUITRAGO" userId="e5ced5c2-d787-455d-b115-4f08a699b8c8" providerId="ADAL" clId="{346ECE53-D0EE-4664-97A2-EE5ED4BD15CE}" dt="2025-11-08T13:29:17.930" v="9"/>
        <pc:sldMkLst>
          <pc:docMk/>
          <pc:sldMk cId="3290055972" sldId="286"/>
        </pc:sldMkLst>
        <pc:spChg chg="mod">
          <ac:chgData name="JHEYSON FABIAN VILLAVISAN BUITRAGO" userId="e5ced5c2-d787-455d-b115-4f08a699b8c8" providerId="ADAL" clId="{346ECE53-D0EE-4664-97A2-EE5ED4BD15CE}" dt="2025-11-08T13:29:17.930" v="9"/>
          <ac:spMkLst>
            <pc:docMk/>
            <pc:sldMk cId="3290055972" sldId="286"/>
            <ac:spMk id="5" creationId="{AD83FA30-4A3C-43B8-17CD-C08519129156}"/>
          </ac:spMkLst>
        </pc:spChg>
      </pc:sldChg>
      <pc:sldChg chg="modSp">
        <pc:chgData name="JHEYSON FABIAN VILLAVISAN BUITRAGO" userId="e5ced5c2-d787-455d-b115-4f08a699b8c8" providerId="ADAL" clId="{346ECE53-D0EE-4664-97A2-EE5ED4BD15CE}" dt="2025-11-08T13:29:22.414" v="12"/>
        <pc:sldMkLst>
          <pc:docMk/>
          <pc:sldMk cId="695529196" sldId="287"/>
        </pc:sldMkLst>
        <pc:spChg chg="mod">
          <ac:chgData name="JHEYSON FABIAN VILLAVISAN BUITRAGO" userId="e5ced5c2-d787-455d-b115-4f08a699b8c8" providerId="ADAL" clId="{346ECE53-D0EE-4664-97A2-EE5ED4BD15CE}" dt="2025-11-08T13:29:22.414" v="12"/>
          <ac:spMkLst>
            <pc:docMk/>
            <pc:sldMk cId="695529196" sldId="287"/>
            <ac:spMk id="5" creationId="{C9BDD7FE-7897-719F-00CB-918BFAB8A410}"/>
          </ac:spMkLst>
        </pc:spChg>
      </pc:sldChg>
      <pc:sldChg chg="modSp">
        <pc:chgData name="JHEYSON FABIAN VILLAVISAN BUITRAGO" userId="e5ced5c2-d787-455d-b115-4f08a699b8c8" providerId="ADAL" clId="{346ECE53-D0EE-4664-97A2-EE5ED4BD15CE}" dt="2025-11-08T13:29:25.219" v="13"/>
        <pc:sldMkLst>
          <pc:docMk/>
          <pc:sldMk cId="843580949" sldId="288"/>
        </pc:sldMkLst>
        <pc:spChg chg="mod">
          <ac:chgData name="JHEYSON FABIAN VILLAVISAN BUITRAGO" userId="e5ced5c2-d787-455d-b115-4f08a699b8c8" providerId="ADAL" clId="{346ECE53-D0EE-4664-97A2-EE5ED4BD15CE}" dt="2025-11-08T13:29:25.219" v="13"/>
          <ac:spMkLst>
            <pc:docMk/>
            <pc:sldMk cId="843580949" sldId="288"/>
            <ac:spMk id="5" creationId="{3C83C928-AC05-668C-D714-285EA6F56318}"/>
          </ac:spMkLst>
        </pc:spChg>
      </pc:sldChg>
      <pc:sldChg chg="modSp">
        <pc:chgData name="JHEYSON FABIAN VILLAVISAN BUITRAGO" userId="e5ced5c2-d787-455d-b115-4f08a699b8c8" providerId="ADAL" clId="{346ECE53-D0EE-4664-97A2-EE5ED4BD15CE}" dt="2025-11-08T13:29:28.173" v="14"/>
        <pc:sldMkLst>
          <pc:docMk/>
          <pc:sldMk cId="3210015125" sldId="289"/>
        </pc:sldMkLst>
        <pc:spChg chg="mod">
          <ac:chgData name="JHEYSON FABIAN VILLAVISAN BUITRAGO" userId="e5ced5c2-d787-455d-b115-4f08a699b8c8" providerId="ADAL" clId="{346ECE53-D0EE-4664-97A2-EE5ED4BD15CE}" dt="2025-11-08T13:29:28.173" v="14"/>
          <ac:spMkLst>
            <pc:docMk/>
            <pc:sldMk cId="3210015125" sldId="289"/>
            <ac:spMk id="5" creationId="{7C932403-741F-55E8-9B04-553A6E9F65D9}"/>
          </ac:spMkLst>
        </pc:spChg>
      </pc:sldChg>
      <pc:sldChg chg="modSp">
        <pc:chgData name="JHEYSON FABIAN VILLAVISAN BUITRAGO" userId="e5ced5c2-d787-455d-b115-4f08a699b8c8" providerId="ADAL" clId="{346ECE53-D0EE-4664-97A2-EE5ED4BD15CE}" dt="2025-11-08T13:29:40.828" v="16"/>
        <pc:sldMkLst>
          <pc:docMk/>
          <pc:sldMk cId="3942778494" sldId="290"/>
        </pc:sldMkLst>
        <pc:spChg chg="mod">
          <ac:chgData name="JHEYSON FABIAN VILLAVISAN BUITRAGO" userId="e5ced5c2-d787-455d-b115-4f08a699b8c8" providerId="ADAL" clId="{346ECE53-D0EE-4664-97A2-EE5ED4BD15CE}" dt="2025-11-08T13:29:40.828" v="16"/>
          <ac:spMkLst>
            <pc:docMk/>
            <pc:sldMk cId="3942778494" sldId="290"/>
            <ac:spMk id="5" creationId="{16126B8B-35CD-5C3E-9B19-6EA567865E07}"/>
          </ac:spMkLst>
        </pc:spChg>
      </pc:sldChg>
      <pc:sldChg chg="modSp">
        <pc:chgData name="JHEYSON FABIAN VILLAVISAN BUITRAGO" userId="e5ced5c2-d787-455d-b115-4f08a699b8c8" providerId="ADAL" clId="{346ECE53-D0EE-4664-97A2-EE5ED4BD15CE}" dt="2025-11-08T13:29:42.757" v="17"/>
        <pc:sldMkLst>
          <pc:docMk/>
          <pc:sldMk cId="1459358207" sldId="291"/>
        </pc:sldMkLst>
        <pc:spChg chg="mod">
          <ac:chgData name="JHEYSON FABIAN VILLAVISAN BUITRAGO" userId="e5ced5c2-d787-455d-b115-4f08a699b8c8" providerId="ADAL" clId="{346ECE53-D0EE-4664-97A2-EE5ED4BD15CE}" dt="2025-11-08T13:29:42.757" v="17"/>
          <ac:spMkLst>
            <pc:docMk/>
            <pc:sldMk cId="1459358207" sldId="291"/>
            <ac:spMk id="5" creationId="{ED44F55E-6D8D-11C8-ACC8-322869009126}"/>
          </ac:spMkLst>
        </pc:spChg>
      </pc:sldChg>
      <pc:sldChg chg="modSp">
        <pc:chgData name="JHEYSON FABIAN VILLAVISAN BUITRAGO" userId="e5ced5c2-d787-455d-b115-4f08a699b8c8" providerId="ADAL" clId="{346ECE53-D0EE-4664-97A2-EE5ED4BD15CE}" dt="2025-11-08T13:29:44.454" v="18"/>
        <pc:sldMkLst>
          <pc:docMk/>
          <pc:sldMk cId="2462887720" sldId="292"/>
        </pc:sldMkLst>
        <pc:spChg chg="mod">
          <ac:chgData name="JHEYSON FABIAN VILLAVISAN BUITRAGO" userId="e5ced5c2-d787-455d-b115-4f08a699b8c8" providerId="ADAL" clId="{346ECE53-D0EE-4664-97A2-EE5ED4BD15CE}" dt="2025-11-08T13:29:44.454" v="18"/>
          <ac:spMkLst>
            <pc:docMk/>
            <pc:sldMk cId="2462887720" sldId="292"/>
            <ac:spMk id="5" creationId="{A5880359-C9C5-F505-2E8A-5BEF0E5B3400}"/>
          </ac:spMkLst>
        </pc:spChg>
      </pc:sldChg>
      <pc:sldChg chg="modSp">
        <pc:chgData name="JHEYSON FABIAN VILLAVISAN BUITRAGO" userId="e5ced5c2-d787-455d-b115-4f08a699b8c8" providerId="ADAL" clId="{346ECE53-D0EE-4664-97A2-EE5ED4BD15CE}" dt="2025-11-08T13:29:46.149" v="19"/>
        <pc:sldMkLst>
          <pc:docMk/>
          <pc:sldMk cId="4269032178" sldId="293"/>
        </pc:sldMkLst>
        <pc:spChg chg="mod">
          <ac:chgData name="JHEYSON FABIAN VILLAVISAN BUITRAGO" userId="e5ced5c2-d787-455d-b115-4f08a699b8c8" providerId="ADAL" clId="{346ECE53-D0EE-4664-97A2-EE5ED4BD15CE}" dt="2025-11-08T13:29:46.149" v="19"/>
          <ac:spMkLst>
            <pc:docMk/>
            <pc:sldMk cId="4269032178" sldId="293"/>
            <ac:spMk id="5" creationId="{AB52A1AB-BD52-3667-BD61-D73CE4F0E9C1}"/>
          </ac:spMkLst>
        </pc:spChg>
      </pc:sldChg>
      <pc:sldChg chg="modSp">
        <pc:chgData name="JHEYSON FABIAN VILLAVISAN BUITRAGO" userId="e5ced5c2-d787-455d-b115-4f08a699b8c8" providerId="ADAL" clId="{346ECE53-D0EE-4664-97A2-EE5ED4BD15CE}" dt="2025-11-08T13:29:47.908" v="20"/>
        <pc:sldMkLst>
          <pc:docMk/>
          <pc:sldMk cId="1088929253" sldId="294"/>
        </pc:sldMkLst>
        <pc:spChg chg="mod">
          <ac:chgData name="JHEYSON FABIAN VILLAVISAN BUITRAGO" userId="e5ced5c2-d787-455d-b115-4f08a699b8c8" providerId="ADAL" clId="{346ECE53-D0EE-4664-97A2-EE5ED4BD15CE}" dt="2025-11-08T13:29:47.908" v="20"/>
          <ac:spMkLst>
            <pc:docMk/>
            <pc:sldMk cId="1088929253" sldId="294"/>
            <ac:spMk id="5" creationId="{BA37A154-C0B9-1C16-40B3-A19A85C46E9B}"/>
          </ac:spMkLst>
        </pc:spChg>
      </pc:sldChg>
      <pc:sldChg chg="modSp">
        <pc:chgData name="JHEYSON FABIAN VILLAVISAN BUITRAGO" userId="e5ced5c2-d787-455d-b115-4f08a699b8c8" providerId="ADAL" clId="{346ECE53-D0EE-4664-97A2-EE5ED4BD15CE}" dt="2025-11-08T13:29:49.261" v="21"/>
        <pc:sldMkLst>
          <pc:docMk/>
          <pc:sldMk cId="1443974946" sldId="295"/>
        </pc:sldMkLst>
        <pc:spChg chg="mod">
          <ac:chgData name="JHEYSON FABIAN VILLAVISAN BUITRAGO" userId="e5ced5c2-d787-455d-b115-4f08a699b8c8" providerId="ADAL" clId="{346ECE53-D0EE-4664-97A2-EE5ED4BD15CE}" dt="2025-11-08T13:29:49.261" v="21"/>
          <ac:spMkLst>
            <pc:docMk/>
            <pc:sldMk cId="1443974946" sldId="295"/>
            <ac:spMk id="5" creationId="{624352F7-303E-FBF6-F360-416F8B9E864B}"/>
          </ac:spMkLst>
        </pc:spChg>
      </pc:sldChg>
      <pc:sldChg chg="modSp">
        <pc:chgData name="JHEYSON FABIAN VILLAVISAN BUITRAGO" userId="e5ced5c2-d787-455d-b115-4f08a699b8c8" providerId="ADAL" clId="{346ECE53-D0EE-4664-97A2-EE5ED4BD15CE}" dt="2025-11-08T13:29:50.819" v="22"/>
        <pc:sldMkLst>
          <pc:docMk/>
          <pc:sldMk cId="3884644109" sldId="296"/>
        </pc:sldMkLst>
        <pc:spChg chg="mod">
          <ac:chgData name="JHEYSON FABIAN VILLAVISAN BUITRAGO" userId="e5ced5c2-d787-455d-b115-4f08a699b8c8" providerId="ADAL" clId="{346ECE53-D0EE-4664-97A2-EE5ED4BD15CE}" dt="2025-11-08T13:29:50.819" v="22"/>
          <ac:spMkLst>
            <pc:docMk/>
            <pc:sldMk cId="3884644109" sldId="296"/>
            <ac:spMk id="5" creationId="{D263B854-B27D-1240-BABD-31E825506A41}"/>
          </ac:spMkLst>
        </pc:spChg>
      </pc:sldChg>
      <pc:sldChg chg="modSp">
        <pc:chgData name="JHEYSON FABIAN VILLAVISAN BUITRAGO" userId="e5ced5c2-d787-455d-b115-4f08a699b8c8" providerId="ADAL" clId="{346ECE53-D0EE-4664-97A2-EE5ED4BD15CE}" dt="2025-11-08T13:29:52.380" v="23"/>
        <pc:sldMkLst>
          <pc:docMk/>
          <pc:sldMk cId="2399273996" sldId="297"/>
        </pc:sldMkLst>
        <pc:spChg chg="mod">
          <ac:chgData name="JHEYSON FABIAN VILLAVISAN BUITRAGO" userId="e5ced5c2-d787-455d-b115-4f08a699b8c8" providerId="ADAL" clId="{346ECE53-D0EE-4664-97A2-EE5ED4BD15CE}" dt="2025-11-08T13:29:52.380" v="23"/>
          <ac:spMkLst>
            <pc:docMk/>
            <pc:sldMk cId="2399273996" sldId="297"/>
            <ac:spMk id="5" creationId="{A00B825D-83BB-B5D9-4F1A-D9989595C191}"/>
          </ac:spMkLst>
        </pc:spChg>
      </pc:sldChg>
      <pc:sldChg chg="modSp mod">
        <pc:chgData name="JHEYSON FABIAN VILLAVISAN BUITRAGO" userId="e5ced5c2-d787-455d-b115-4f08a699b8c8" providerId="ADAL" clId="{346ECE53-D0EE-4664-97A2-EE5ED4BD15CE}" dt="2025-11-08T13:30:04.477" v="35" actId="20577"/>
        <pc:sldMkLst>
          <pc:docMk/>
          <pc:sldMk cId="4133824866" sldId="298"/>
        </pc:sldMkLst>
        <pc:spChg chg="mod">
          <ac:chgData name="JHEYSON FABIAN VILLAVISAN BUITRAGO" userId="e5ced5c2-d787-455d-b115-4f08a699b8c8" providerId="ADAL" clId="{346ECE53-D0EE-4664-97A2-EE5ED4BD15CE}" dt="2025-11-08T13:30:04.477" v="35" actId="20577"/>
          <ac:spMkLst>
            <pc:docMk/>
            <pc:sldMk cId="4133824866" sldId="298"/>
            <ac:spMk id="2" creationId="{2E96C4F3-E88C-E6E6-4027-BB86283F378B}"/>
          </ac:spMkLst>
        </pc:spChg>
        <pc:spChg chg="mod">
          <ac:chgData name="JHEYSON FABIAN VILLAVISAN BUITRAGO" userId="e5ced5c2-d787-455d-b115-4f08a699b8c8" providerId="ADAL" clId="{346ECE53-D0EE-4664-97A2-EE5ED4BD15CE}" dt="2025-11-08T13:29:53.884" v="24"/>
          <ac:spMkLst>
            <pc:docMk/>
            <pc:sldMk cId="4133824866" sldId="298"/>
            <ac:spMk id="5" creationId="{397D0726-9C7A-3DE2-95AA-A6D80C39FF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8/11/2025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8/11/2025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14</a:t>
            </a:fld>
            <a:endParaRPr lang="es-CO" altLang="es-CO"/>
          </a:p>
        </p:txBody>
      </p:sp>
    </p:spTree>
    <p:extLst>
      <p:ext uri="{BB962C8B-B14F-4D97-AF65-F5344CB8AC3E}">
        <p14:creationId xmlns:p14="http://schemas.microsoft.com/office/powerpoint/2010/main" val="3491802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B8881-6358-69E9-51C3-F7AA6D4213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22BFBA-1ABF-ADC8-8503-6389AF0A5E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6EA818-67EE-95A2-ADCB-885731E1987B}"/>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18F02CEF-56AD-FCE7-81BB-7B61A67B72BA}"/>
              </a:ext>
            </a:extLst>
          </p:cNvPr>
          <p:cNvSpPr>
            <a:spLocks noGrp="1"/>
          </p:cNvSpPr>
          <p:nvPr>
            <p:ph type="sldNum" sz="quarter" idx="5"/>
          </p:nvPr>
        </p:nvSpPr>
        <p:spPr/>
        <p:txBody>
          <a:bodyPr/>
          <a:lstStyle/>
          <a:p>
            <a:pPr>
              <a:defRPr/>
            </a:pPr>
            <a:fld id="{2D1E0FDF-8C6F-43B4-8722-700C06D0C414}" type="slidenum">
              <a:rPr lang="es-CO" altLang="es-CO" smtClean="0"/>
              <a:pPr>
                <a:defRPr/>
              </a:pPr>
              <a:t>15</a:t>
            </a:fld>
            <a:endParaRPr lang="es-CO" altLang="es-CO"/>
          </a:p>
        </p:txBody>
      </p:sp>
    </p:spTree>
    <p:extLst>
      <p:ext uri="{BB962C8B-B14F-4D97-AF65-F5344CB8AC3E}">
        <p14:creationId xmlns:p14="http://schemas.microsoft.com/office/powerpoint/2010/main" val="1833904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2483-43A8-C125-FCAE-318691CC0E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DF5CC5-3A1D-6BCD-CE0A-A0B10AAC36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BC2455-31EB-5D75-1E78-7171534148F3}"/>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AD098E18-4F43-32B4-57BB-3FF5DA4A1D3F}"/>
              </a:ext>
            </a:extLst>
          </p:cNvPr>
          <p:cNvSpPr>
            <a:spLocks noGrp="1"/>
          </p:cNvSpPr>
          <p:nvPr>
            <p:ph type="sldNum" sz="quarter" idx="5"/>
          </p:nvPr>
        </p:nvSpPr>
        <p:spPr/>
        <p:txBody>
          <a:bodyPr/>
          <a:lstStyle/>
          <a:p>
            <a:pPr>
              <a:defRPr/>
            </a:pPr>
            <a:fld id="{2D1E0FDF-8C6F-43B4-8722-700C06D0C414}" type="slidenum">
              <a:rPr lang="es-CO" altLang="es-CO" smtClean="0"/>
              <a:pPr>
                <a:defRPr/>
              </a:pPr>
              <a:t>16</a:t>
            </a:fld>
            <a:endParaRPr lang="es-CO" altLang="es-CO"/>
          </a:p>
        </p:txBody>
      </p:sp>
    </p:spTree>
    <p:extLst>
      <p:ext uri="{BB962C8B-B14F-4D97-AF65-F5344CB8AC3E}">
        <p14:creationId xmlns:p14="http://schemas.microsoft.com/office/powerpoint/2010/main" val="2374813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C5BC4-AD77-2514-AE07-2D12666DEA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C91DB7-9CC9-7E37-62D6-E928D85EBF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F4E4AC-3C9C-F154-B834-7370BCD1A83D}"/>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8D901D1E-927E-020A-EAB8-610EAAB4DFAB}"/>
              </a:ext>
            </a:extLst>
          </p:cNvPr>
          <p:cNvSpPr>
            <a:spLocks noGrp="1"/>
          </p:cNvSpPr>
          <p:nvPr>
            <p:ph type="sldNum" sz="quarter" idx="5"/>
          </p:nvPr>
        </p:nvSpPr>
        <p:spPr/>
        <p:txBody>
          <a:bodyPr/>
          <a:lstStyle/>
          <a:p>
            <a:pPr>
              <a:defRPr/>
            </a:pPr>
            <a:fld id="{2D1E0FDF-8C6F-43B4-8722-700C06D0C414}" type="slidenum">
              <a:rPr lang="es-CO" altLang="es-CO" smtClean="0"/>
              <a:pPr>
                <a:defRPr/>
              </a:pPr>
              <a:t>17</a:t>
            </a:fld>
            <a:endParaRPr lang="es-CO" altLang="es-CO"/>
          </a:p>
        </p:txBody>
      </p:sp>
    </p:spTree>
    <p:extLst>
      <p:ext uri="{BB962C8B-B14F-4D97-AF65-F5344CB8AC3E}">
        <p14:creationId xmlns:p14="http://schemas.microsoft.com/office/powerpoint/2010/main" val="2270318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2F873-F437-E575-60D4-14024A557E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0FFDF8-69CA-A763-B44E-E8DEA1070D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5A3A620-B0C0-C06C-5A18-7E637E0CD57C}"/>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6DAAD382-84B7-1028-3867-E306311E9DDE}"/>
              </a:ext>
            </a:extLst>
          </p:cNvPr>
          <p:cNvSpPr>
            <a:spLocks noGrp="1"/>
          </p:cNvSpPr>
          <p:nvPr>
            <p:ph type="sldNum" sz="quarter" idx="5"/>
          </p:nvPr>
        </p:nvSpPr>
        <p:spPr/>
        <p:txBody>
          <a:bodyPr/>
          <a:lstStyle/>
          <a:p>
            <a:pPr>
              <a:defRPr/>
            </a:pPr>
            <a:fld id="{2D1E0FDF-8C6F-43B4-8722-700C06D0C414}" type="slidenum">
              <a:rPr lang="es-CO" altLang="es-CO" smtClean="0"/>
              <a:pPr>
                <a:defRPr/>
              </a:pPr>
              <a:t>18</a:t>
            </a:fld>
            <a:endParaRPr lang="es-CO" altLang="es-CO"/>
          </a:p>
        </p:txBody>
      </p:sp>
    </p:spTree>
    <p:extLst>
      <p:ext uri="{BB962C8B-B14F-4D97-AF65-F5344CB8AC3E}">
        <p14:creationId xmlns:p14="http://schemas.microsoft.com/office/powerpoint/2010/main" val="923116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6E92F-A8DA-BCA5-F39C-CE74935883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B389CD-C505-F670-9F47-ECB1BBB42F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F881BE-1C8E-02E3-5088-4BA88B58F93D}"/>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283C4943-C116-33FF-A8FD-CCE259C10C59}"/>
              </a:ext>
            </a:extLst>
          </p:cNvPr>
          <p:cNvSpPr>
            <a:spLocks noGrp="1"/>
          </p:cNvSpPr>
          <p:nvPr>
            <p:ph type="sldNum" sz="quarter" idx="5"/>
          </p:nvPr>
        </p:nvSpPr>
        <p:spPr/>
        <p:txBody>
          <a:bodyPr/>
          <a:lstStyle/>
          <a:p>
            <a:pPr>
              <a:defRPr/>
            </a:pPr>
            <a:fld id="{2D1E0FDF-8C6F-43B4-8722-700C06D0C414}" type="slidenum">
              <a:rPr lang="es-CO" altLang="es-CO" smtClean="0"/>
              <a:pPr>
                <a:defRPr/>
              </a:pPr>
              <a:t>19</a:t>
            </a:fld>
            <a:endParaRPr lang="es-CO" altLang="es-CO"/>
          </a:p>
        </p:txBody>
      </p:sp>
    </p:spTree>
    <p:extLst>
      <p:ext uri="{BB962C8B-B14F-4D97-AF65-F5344CB8AC3E}">
        <p14:creationId xmlns:p14="http://schemas.microsoft.com/office/powerpoint/2010/main" val="2102474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ACBB-4973-37C4-5519-7DAB15A386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E32A20-9B0C-99AA-03B5-327BFF860D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FF910F-7222-3715-CFAE-E4369CA73221}"/>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3DC0E062-9702-69EF-CCA2-6A1ADF18BA08}"/>
              </a:ext>
            </a:extLst>
          </p:cNvPr>
          <p:cNvSpPr>
            <a:spLocks noGrp="1"/>
          </p:cNvSpPr>
          <p:nvPr>
            <p:ph type="sldNum" sz="quarter" idx="5"/>
          </p:nvPr>
        </p:nvSpPr>
        <p:spPr/>
        <p:txBody>
          <a:bodyPr/>
          <a:lstStyle/>
          <a:p>
            <a:pPr>
              <a:defRPr/>
            </a:pPr>
            <a:fld id="{2D1E0FDF-8C6F-43B4-8722-700C06D0C414}" type="slidenum">
              <a:rPr lang="es-CO" altLang="es-CO" smtClean="0"/>
              <a:pPr>
                <a:defRPr/>
              </a:pPr>
              <a:t>20</a:t>
            </a:fld>
            <a:endParaRPr lang="es-CO" altLang="es-CO"/>
          </a:p>
        </p:txBody>
      </p:sp>
    </p:spTree>
    <p:extLst>
      <p:ext uri="{BB962C8B-B14F-4D97-AF65-F5344CB8AC3E}">
        <p14:creationId xmlns:p14="http://schemas.microsoft.com/office/powerpoint/2010/main" val="70806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826B8-0734-A913-8E99-35785B6118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066362-8278-0A68-91A0-3BD275E9FC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D72ADB-C749-616B-BDF4-F0163BE87768}"/>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58892349-5E07-CEF0-B4F0-4D09FDAEA761}"/>
              </a:ext>
            </a:extLst>
          </p:cNvPr>
          <p:cNvSpPr>
            <a:spLocks noGrp="1"/>
          </p:cNvSpPr>
          <p:nvPr>
            <p:ph type="sldNum" sz="quarter" idx="5"/>
          </p:nvPr>
        </p:nvSpPr>
        <p:spPr/>
        <p:txBody>
          <a:bodyPr/>
          <a:lstStyle/>
          <a:p>
            <a:pPr>
              <a:defRPr/>
            </a:pPr>
            <a:fld id="{2D1E0FDF-8C6F-43B4-8722-700C06D0C414}" type="slidenum">
              <a:rPr lang="es-CO" altLang="es-CO" smtClean="0"/>
              <a:pPr>
                <a:defRPr/>
              </a:pPr>
              <a:t>21</a:t>
            </a:fld>
            <a:endParaRPr lang="es-CO" altLang="es-CO"/>
          </a:p>
        </p:txBody>
      </p:sp>
    </p:spTree>
    <p:extLst>
      <p:ext uri="{BB962C8B-B14F-4D97-AF65-F5344CB8AC3E}">
        <p14:creationId xmlns:p14="http://schemas.microsoft.com/office/powerpoint/2010/main" val="1243948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7D0D-C304-E318-D10D-81DEF489D0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546FC9-C948-D390-6649-5C2488A291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2CCAB8-D934-BE49-BAD3-DB79F3D2F382}"/>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961748FC-0A87-4ABF-FED3-FC7A407CEC49}"/>
              </a:ext>
            </a:extLst>
          </p:cNvPr>
          <p:cNvSpPr>
            <a:spLocks noGrp="1"/>
          </p:cNvSpPr>
          <p:nvPr>
            <p:ph type="sldNum" sz="quarter" idx="5"/>
          </p:nvPr>
        </p:nvSpPr>
        <p:spPr/>
        <p:txBody>
          <a:bodyPr/>
          <a:lstStyle/>
          <a:p>
            <a:pPr>
              <a:defRPr/>
            </a:pPr>
            <a:fld id="{2D1E0FDF-8C6F-43B4-8722-700C06D0C414}" type="slidenum">
              <a:rPr lang="es-CO" altLang="es-CO" smtClean="0"/>
              <a:pPr>
                <a:defRPr/>
              </a:pPr>
              <a:t>22</a:t>
            </a:fld>
            <a:endParaRPr lang="es-CO" altLang="es-CO"/>
          </a:p>
        </p:txBody>
      </p:sp>
    </p:spTree>
    <p:extLst>
      <p:ext uri="{BB962C8B-B14F-4D97-AF65-F5344CB8AC3E}">
        <p14:creationId xmlns:p14="http://schemas.microsoft.com/office/powerpoint/2010/main" val="1427226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8919-760E-EC94-99E5-77934301A7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7B54D6-FF18-4143-A2C1-788D334336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503131-E317-AA8C-B7CC-08FD5C696264}"/>
              </a:ext>
            </a:extLst>
          </p:cNvPr>
          <p:cNvSpPr>
            <a:spLocks noGrp="1"/>
          </p:cNvSpPr>
          <p:nvPr>
            <p:ph type="body" idx="1"/>
          </p:nvPr>
        </p:nvSpPr>
        <p:spPr/>
        <p:txBody>
          <a:bodyPr>
            <a:normAutofit/>
          </a:bodyPr>
          <a:lstStyle/>
          <a:p>
            <a:br>
              <a:rPr lang="es-ES" sz="1800" b="0" i="0">
                <a:effectLst/>
                <a:latin typeface="Menlo"/>
              </a:rPr>
            </a:br>
            <a:endParaRPr lang="es-ES" sz="1800" b="0" i="0">
              <a:effectLst/>
              <a:latin typeface="Menlo"/>
            </a:endParaRPr>
          </a:p>
          <a:p>
            <a:endParaRPr lang="en-US"/>
          </a:p>
        </p:txBody>
      </p:sp>
      <p:sp>
        <p:nvSpPr>
          <p:cNvPr id="4" name="Marcador de número de diapositiva 3">
            <a:extLst>
              <a:ext uri="{FF2B5EF4-FFF2-40B4-BE49-F238E27FC236}">
                <a16:creationId xmlns:a16="http://schemas.microsoft.com/office/drawing/2014/main" id="{66815605-0CC5-8BBC-22AE-5526B85304EB}"/>
              </a:ext>
            </a:extLst>
          </p:cNvPr>
          <p:cNvSpPr>
            <a:spLocks noGrp="1"/>
          </p:cNvSpPr>
          <p:nvPr>
            <p:ph type="sldNum" sz="quarter" idx="5"/>
          </p:nvPr>
        </p:nvSpPr>
        <p:spPr/>
        <p:txBody>
          <a:bodyPr/>
          <a:lstStyle/>
          <a:p>
            <a:pPr>
              <a:defRPr/>
            </a:pPr>
            <a:fld id="{2D1E0FDF-8C6F-43B4-8722-700C06D0C414}" type="slidenum">
              <a:rPr lang="es-CO" altLang="es-CO" smtClean="0"/>
              <a:pPr>
                <a:defRPr/>
              </a:pPr>
              <a:t>23</a:t>
            </a:fld>
            <a:endParaRPr lang="es-CO" altLang="es-CO"/>
          </a:p>
        </p:txBody>
      </p:sp>
    </p:spTree>
    <p:extLst>
      <p:ext uri="{BB962C8B-B14F-4D97-AF65-F5344CB8AC3E}">
        <p14:creationId xmlns:p14="http://schemas.microsoft.com/office/powerpoint/2010/main" val="204931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8/11/2025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95736"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dirty="0"/>
              <a:t>OBJETIVO</a:t>
            </a:r>
          </a:p>
        </p:txBody>
      </p:sp>
      <p:sp>
        <p:nvSpPr>
          <p:cNvPr id="4" name="Marcador de texto 3">
            <a:extLst>
              <a:ext uri="{FF2B5EF4-FFF2-40B4-BE49-F238E27FC236}">
                <a16:creationId xmlns:a16="http://schemas.microsoft.com/office/drawing/2014/main" id="{2C7E43D4-8286-4BEE-907B-3A35AE701C90}"/>
              </a:ext>
            </a:extLst>
          </p:cNvPr>
          <p:cNvSpPr>
            <a:spLocks noGrp="1"/>
          </p:cNvSpPr>
          <p:nvPr>
            <p:ph type="body" sz="half" idx="2"/>
          </p:nvPr>
        </p:nvSpPr>
        <p:spPr>
          <a:xfrm>
            <a:off x="1177442" y="3561905"/>
            <a:ext cx="7576605" cy="1007733"/>
          </a:xfrm>
        </p:spPr>
        <p:txBody>
          <a:bodyPr>
            <a:normAutofit/>
          </a:bodyPr>
          <a:lstStyle/>
          <a:p>
            <a:pPr algn="just"/>
            <a:r>
              <a:rPr lang="es-ES" dirty="0"/>
              <a:t>Al finalizar esta sesión, los estudiantes serán capaces de entender y aplicar el concepto de lugar geométrico de las raíces en el análisis de sistemas de control. Identificarán cómo varían las raíces de un polinomio característico al modificar los parámetros del sistema y cómo esto impacta la estabilidad y la dinámica del sistema. Además, desarrollarán habilidades para utilizar herramientas analíticas y computacionales para trazar y analizar estos lugares geométricos, facilitando así el diseño y ajuste de controladores.</a:t>
            </a:r>
            <a:endParaRPr lang="es-CO" dirty="0"/>
          </a:p>
        </p:txBody>
      </p:sp>
      <p:pic>
        <p:nvPicPr>
          <p:cNvPr id="6" name="Gráfico 5" descr="Diana con relleno sólido">
            <a:extLst>
              <a:ext uri="{FF2B5EF4-FFF2-40B4-BE49-F238E27FC236}">
                <a16:creationId xmlns:a16="http://schemas.microsoft.com/office/drawing/2014/main" id="{46E1A899-6475-4C36-890B-85392BBFA9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85912" y="1696299"/>
            <a:ext cx="914400" cy="914400"/>
          </a:xfrm>
          <a:prstGeom prst="rect">
            <a:avLst/>
          </a:prstGeom>
        </p:spPr>
      </p:pic>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145089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2C7E43D4-8286-4BEE-907B-3A35AE701C90}"/>
              </a:ext>
            </a:extLst>
          </p:cNvPr>
          <p:cNvSpPr>
            <a:spLocks noGrp="1"/>
          </p:cNvSpPr>
          <p:nvPr>
            <p:ph type="body" sz="half" idx="2"/>
          </p:nvPr>
        </p:nvSpPr>
        <p:spPr>
          <a:xfrm>
            <a:off x="1177442" y="3561905"/>
            <a:ext cx="7576605" cy="1007733"/>
          </a:xfrm>
        </p:spPr>
        <p:txBody>
          <a:bodyPr>
            <a:normAutofit fontScale="92500"/>
          </a:bodyPr>
          <a:lstStyle/>
          <a:p>
            <a:pPr algn="just"/>
            <a:r>
              <a:rPr lang="es-ES" sz="1400" dirty="0"/>
              <a:t>El Lugar Geométrico de las Raíces (LGR) es una técnica esencial en el análisis y diseño de sistemas de control. Esta </a:t>
            </a:r>
            <a:r>
              <a:rPr lang="es-ES" sz="1400" b="1" dirty="0"/>
              <a:t>herramienta gráfica </a:t>
            </a:r>
            <a:r>
              <a:rPr lang="es-ES" sz="1400" dirty="0"/>
              <a:t>proporciona una visión clara de cómo las raíces de la ecuación característica de un sistema, es decir, los polos del sistema se desplazan en el plano complejo en respuesta a variaciones en los parámetros del sistema. Entender cómo se comportan estas raíces es fundamental porque determinan directamente la estabilidad y el comportamiento dinámico del sistema.</a:t>
            </a:r>
            <a:endParaRPr lang="es-CO" sz="1400"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3</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1533627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LGR</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4</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4" name="Imagen 3">
            <a:extLst>
              <a:ext uri="{FF2B5EF4-FFF2-40B4-BE49-F238E27FC236}">
                <a16:creationId xmlns:a16="http://schemas.microsoft.com/office/drawing/2014/main" id="{F182E2E8-FBF4-F691-A189-82B1B2EB72A2}"/>
              </a:ext>
            </a:extLst>
          </p:cNvPr>
          <p:cNvPicPr>
            <a:picLocks noChangeAspect="1"/>
          </p:cNvPicPr>
          <p:nvPr/>
        </p:nvPicPr>
        <p:blipFill>
          <a:blip r:embed="rId3"/>
          <a:stretch>
            <a:fillRect/>
          </a:stretch>
        </p:blipFill>
        <p:spPr>
          <a:xfrm>
            <a:off x="2267744" y="1205904"/>
            <a:ext cx="5215314" cy="4551882"/>
          </a:xfrm>
          <a:prstGeom prst="rect">
            <a:avLst/>
          </a:prstGeom>
        </p:spPr>
      </p:pic>
    </p:spTree>
    <p:extLst>
      <p:ext uri="{BB962C8B-B14F-4D97-AF65-F5344CB8AC3E}">
        <p14:creationId xmlns:p14="http://schemas.microsoft.com/office/powerpoint/2010/main" val="320514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1) Hallar los puntos donde K=0</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5</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8C746ED0-0581-E082-3587-BA132C7E4CDE}"/>
                  </a:ext>
                </a:extLst>
              </p:cNvPr>
              <p:cNvSpPr txBox="1"/>
              <p:nvPr/>
            </p:nvSpPr>
            <p:spPr>
              <a:xfrm>
                <a:off x="779463" y="3407039"/>
                <a:ext cx="2051331" cy="448328"/>
              </a:xfrm>
              <a:prstGeom prst="rect">
                <a:avLst/>
              </a:prstGeom>
              <a:noFill/>
            </p:spPr>
            <p:txBody>
              <a:bodyPr wrap="none" lIns="0" tIns="0" rIns="0" bIns="0" rtlCol="0">
                <a:spAutoFit/>
              </a:bodyPr>
              <a:lstStyle/>
              <a:p>
                <a:r>
                  <a:rPr lang="es-CO" b="0" dirty="0"/>
                  <a:t>1+</a:t>
                </a:r>
                <a14:m>
                  <m:oMath xmlns:m="http://schemas.openxmlformats.org/officeDocument/2006/math">
                    <m:f>
                      <m:fPr>
                        <m:ctrlPr>
                          <a:rPr lang="es-CO" b="0" i="1" smtClean="0">
                            <a:latin typeface="Cambria Math" panose="02040503050406030204" pitchFamily="18" charset="0"/>
                          </a:rPr>
                        </m:ctrlPr>
                      </m:fPr>
                      <m:num>
                        <m:r>
                          <a:rPr lang="es-CO" b="0" i="1" smtClean="0">
                            <a:latin typeface="Cambria Math" panose="02040503050406030204" pitchFamily="18" charset="0"/>
                          </a:rPr>
                          <m:t>𝑘</m:t>
                        </m:r>
                        <m:d>
                          <m:dPr>
                            <m:ctrlPr>
                              <a:rPr lang="es-CO" b="0" i="1" smtClean="0">
                                <a:latin typeface="Cambria Math" panose="02040503050406030204" pitchFamily="18" charset="0"/>
                              </a:rPr>
                            </m:ctrlPr>
                          </m:dPr>
                          <m:e>
                            <m:r>
                              <a:rPr lang="es-CO" b="0" i="1" smtClean="0">
                                <a:latin typeface="Cambria Math" panose="02040503050406030204" pitchFamily="18" charset="0"/>
                              </a:rPr>
                              <m:t>𝑠</m:t>
                            </m:r>
                            <m:r>
                              <a:rPr lang="es-CO" b="0" i="1" smtClean="0">
                                <a:latin typeface="Cambria Math" panose="02040503050406030204" pitchFamily="18" charset="0"/>
                              </a:rPr>
                              <m:t>+3</m:t>
                            </m:r>
                          </m:e>
                        </m:d>
                      </m:num>
                      <m:den>
                        <m:r>
                          <a:rPr lang="es-CO" b="0" i="1" smtClean="0">
                            <a:solidFill>
                              <a:srgbClr val="FF0000"/>
                            </a:solidFill>
                            <a:latin typeface="Cambria Math" panose="02040503050406030204" pitchFamily="18" charset="0"/>
                          </a:rPr>
                          <m:t>𝑠</m:t>
                        </m:r>
                        <m:r>
                          <a:rPr lang="es-CO" b="0" i="1" smtClean="0">
                            <a:solidFill>
                              <a:srgbClr val="FF0000"/>
                            </a:solidFill>
                            <a:latin typeface="Cambria Math" panose="02040503050406030204" pitchFamily="18" charset="0"/>
                          </a:rPr>
                          <m:t>(</m:t>
                        </m:r>
                        <m:r>
                          <a:rPr lang="es-CO" b="0" i="1" smtClean="0">
                            <a:solidFill>
                              <a:srgbClr val="FF0000"/>
                            </a:solidFill>
                            <a:latin typeface="Cambria Math" panose="02040503050406030204" pitchFamily="18" charset="0"/>
                          </a:rPr>
                          <m:t>𝑠</m:t>
                        </m:r>
                        <m:r>
                          <a:rPr lang="es-CO" b="0" i="1" smtClean="0">
                            <a:solidFill>
                              <a:srgbClr val="FF0000"/>
                            </a:solidFill>
                            <a:latin typeface="Cambria Math" panose="02040503050406030204" pitchFamily="18" charset="0"/>
                          </a:rPr>
                          <m:t>+5)(</m:t>
                        </m:r>
                        <m:r>
                          <a:rPr lang="es-CO" b="0" i="1" smtClean="0">
                            <a:solidFill>
                              <a:srgbClr val="FF0000"/>
                            </a:solidFill>
                            <a:latin typeface="Cambria Math" panose="02040503050406030204" pitchFamily="18" charset="0"/>
                          </a:rPr>
                          <m:t>𝑠</m:t>
                        </m:r>
                        <m:r>
                          <a:rPr lang="es-CO" b="0" i="1" smtClean="0">
                            <a:solidFill>
                              <a:srgbClr val="FF0000"/>
                            </a:solidFill>
                            <a:latin typeface="Cambria Math" panose="02040503050406030204" pitchFamily="18" charset="0"/>
                          </a:rPr>
                          <m:t>+6)(</m:t>
                        </m:r>
                        <m:sSup>
                          <m:sSupPr>
                            <m:ctrlPr>
                              <a:rPr lang="es-CO" b="0" i="1" smtClean="0">
                                <a:solidFill>
                                  <a:srgbClr val="FF0000"/>
                                </a:solidFill>
                                <a:latin typeface="Cambria Math" panose="02040503050406030204" pitchFamily="18" charset="0"/>
                              </a:rPr>
                            </m:ctrlPr>
                          </m:sSupPr>
                          <m:e>
                            <m:r>
                              <a:rPr lang="es-CO" b="0" i="1" smtClean="0">
                                <a:solidFill>
                                  <a:srgbClr val="FF0000"/>
                                </a:solidFill>
                                <a:latin typeface="Cambria Math" panose="02040503050406030204" pitchFamily="18" charset="0"/>
                              </a:rPr>
                              <m:t>𝑠</m:t>
                            </m:r>
                          </m:e>
                          <m:sup>
                            <m:r>
                              <a:rPr lang="es-CO" b="0" i="1" smtClean="0">
                                <a:solidFill>
                                  <a:srgbClr val="FF0000"/>
                                </a:solidFill>
                                <a:latin typeface="Cambria Math" panose="02040503050406030204" pitchFamily="18" charset="0"/>
                              </a:rPr>
                              <m:t>2</m:t>
                            </m:r>
                          </m:sup>
                        </m:sSup>
                        <m:r>
                          <a:rPr lang="es-CO" b="0" i="1" smtClean="0">
                            <a:solidFill>
                              <a:srgbClr val="FF0000"/>
                            </a:solidFill>
                            <a:latin typeface="Cambria Math" panose="02040503050406030204" pitchFamily="18" charset="0"/>
                          </a:rPr>
                          <m:t>+2</m:t>
                        </m:r>
                        <m:r>
                          <a:rPr lang="es-CO" b="0" i="1" smtClean="0">
                            <a:solidFill>
                              <a:srgbClr val="FF0000"/>
                            </a:solidFill>
                            <a:latin typeface="Cambria Math" panose="02040503050406030204" pitchFamily="18" charset="0"/>
                          </a:rPr>
                          <m:t>𝑠</m:t>
                        </m:r>
                        <m:r>
                          <a:rPr lang="es-CO" b="0" i="1" smtClean="0">
                            <a:solidFill>
                              <a:srgbClr val="FF0000"/>
                            </a:solidFill>
                            <a:latin typeface="Cambria Math" panose="02040503050406030204" pitchFamily="18" charset="0"/>
                          </a:rPr>
                          <m:t>+2)</m:t>
                        </m:r>
                      </m:den>
                    </m:f>
                  </m:oMath>
                </a14:m>
                <a:endParaRPr lang="en-US" dirty="0"/>
              </a:p>
            </p:txBody>
          </p:sp>
        </mc:Choice>
        <mc:Fallback xmlns="">
          <p:sp>
            <p:nvSpPr>
              <p:cNvPr id="3" name="CuadroTexto 2">
                <a:extLst>
                  <a:ext uri="{FF2B5EF4-FFF2-40B4-BE49-F238E27FC236}">
                    <a16:creationId xmlns:a16="http://schemas.microsoft.com/office/drawing/2014/main" id="{8C746ED0-0581-E082-3587-BA132C7E4CDE}"/>
                  </a:ext>
                </a:extLst>
              </p:cNvPr>
              <p:cNvSpPr txBox="1">
                <a:spLocks noRot="1" noChangeAspect="1" noMove="1" noResize="1" noEditPoints="1" noAdjustHandles="1" noChangeArrowheads="1" noChangeShapeType="1" noTextEdit="1"/>
              </p:cNvSpPr>
              <p:nvPr/>
            </p:nvSpPr>
            <p:spPr>
              <a:xfrm>
                <a:off x="779463" y="3407039"/>
                <a:ext cx="2051331" cy="448328"/>
              </a:xfrm>
              <a:prstGeom prst="rect">
                <a:avLst/>
              </a:prstGeom>
              <a:blipFill>
                <a:blip r:embed="rId3"/>
                <a:stretch>
                  <a:fillRect l="-7143" r="-3274" b="-17808"/>
                </a:stretch>
              </a:blipFill>
            </p:spPr>
            <p:txBody>
              <a:bodyPr/>
              <a:lstStyle/>
              <a:p>
                <a:r>
                  <a:rPr lang="en-US">
                    <a:noFill/>
                  </a:rPr>
                  <a:t> </a:t>
                </a:r>
              </a:p>
            </p:txBody>
          </p:sp>
        </mc:Fallback>
      </mc:AlternateContent>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a:blip r:embed="rId4"/>
          <a:stretch>
            <a:fillRect/>
          </a:stretch>
        </p:blipFill>
        <p:spPr>
          <a:xfrm>
            <a:off x="4022653" y="2121904"/>
            <a:ext cx="4942906" cy="3847541"/>
          </a:xfrm>
          <a:prstGeom prst="rect">
            <a:avLst/>
          </a:prstGeom>
        </p:spPr>
      </p:pic>
    </p:spTree>
    <p:extLst>
      <p:ext uri="{BB962C8B-B14F-4D97-AF65-F5344CB8AC3E}">
        <p14:creationId xmlns:p14="http://schemas.microsoft.com/office/powerpoint/2010/main" val="2187732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2) Hallar los puntos donde K=±∞</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6</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8C746ED0-0581-E082-3587-BA132C7E4CDE}"/>
                  </a:ext>
                </a:extLst>
              </p:cNvPr>
              <p:cNvSpPr txBox="1"/>
              <p:nvPr/>
            </p:nvSpPr>
            <p:spPr>
              <a:xfrm>
                <a:off x="779463" y="3407039"/>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latin typeface="Cambria Math" panose="02040503050406030204" pitchFamily="18" charset="0"/>
                        </a:rPr>
                        <m:t>1+</m:t>
                      </m:r>
                      <m:f>
                        <m:fPr>
                          <m:ctrlPr>
                            <a:rPr lang="es-CO" b="0" i="1" smtClean="0">
                              <a:latin typeface="Cambria Math" panose="02040503050406030204" pitchFamily="18" charset="0"/>
                            </a:rPr>
                          </m:ctrlPr>
                        </m:fPr>
                        <m:num>
                          <m:r>
                            <a:rPr lang="es-CO" b="0" i="1" smtClean="0">
                              <a:latin typeface="Cambria Math" panose="02040503050406030204" pitchFamily="18" charset="0"/>
                            </a:rPr>
                            <m:t>𝑘</m:t>
                          </m:r>
                          <m:d>
                            <m:dPr>
                              <m:ctrlPr>
                                <a:rPr lang="es-CO" b="0" i="1" smtClean="0">
                                  <a:solidFill>
                                    <a:srgbClr val="FF0000"/>
                                  </a:solidFill>
                                  <a:latin typeface="Cambria Math" panose="02040503050406030204" pitchFamily="18" charset="0"/>
                                </a:rPr>
                              </m:ctrlPr>
                            </m:dPr>
                            <m:e>
                              <m:r>
                                <a:rPr lang="es-CO" b="0" i="1" smtClean="0">
                                  <a:solidFill>
                                    <a:srgbClr val="FF0000"/>
                                  </a:solidFill>
                                  <a:latin typeface="Cambria Math" panose="02040503050406030204" pitchFamily="18" charset="0"/>
                                </a:rPr>
                                <m:t>𝑠</m:t>
                              </m:r>
                              <m:r>
                                <a:rPr lang="es-CO" b="0" i="1" smtClean="0">
                                  <a:solidFill>
                                    <a:srgbClr val="FF0000"/>
                                  </a:solidFill>
                                  <a:latin typeface="Cambria Math" panose="02040503050406030204" pitchFamily="18" charset="0"/>
                                </a:rPr>
                                <m:t>+3</m:t>
                              </m:r>
                            </m:e>
                          </m:d>
                        </m:num>
                        <m:den>
                          <m:r>
                            <a:rPr lang="es-CO" b="0" i="1" smtClean="0">
                              <a:latin typeface="Cambria Math" panose="02040503050406030204" pitchFamily="18" charset="0"/>
                            </a:rPr>
                            <m:t>𝑠</m:t>
                          </m:r>
                          <m:r>
                            <a:rPr lang="es-CO" b="0" i="1" smtClean="0">
                              <a:latin typeface="Cambria Math" panose="02040503050406030204" pitchFamily="18" charset="0"/>
                            </a:rPr>
                            <m:t>(</m:t>
                          </m:r>
                          <m:r>
                            <a:rPr lang="es-CO" b="0" i="1" smtClean="0">
                              <a:latin typeface="Cambria Math" panose="02040503050406030204" pitchFamily="18" charset="0"/>
                            </a:rPr>
                            <m:t>𝑠</m:t>
                          </m:r>
                          <m:r>
                            <a:rPr lang="es-CO" b="0" i="1" smtClean="0">
                              <a:latin typeface="Cambria Math" panose="02040503050406030204" pitchFamily="18" charset="0"/>
                            </a:rPr>
                            <m:t>+5)(</m:t>
                          </m:r>
                          <m:r>
                            <a:rPr lang="es-CO" b="0" i="1" smtClean="0">
                              <a:latin typeface="Cambria Math" panose="02040503050406030204" pitchFamily="18" charset="0"/>
                            </a:rPr>
                            <m:t>𝑠</m:t>
                          </m:r>
                          <m:r>
                            <a:rPr lang="es-CO" b="0" i="1" smtClean="0">
                              <a:latin typeface="Cambria Math" panose="02040503050406030204" pitchFamily="18" charset="0"/>
                            </a:rPr>
                            <m:t>+6)(</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𝑠</m:t>
                              </m:r>
                            </m:e>
                            <m:sup>
                              <m:r>
                                <a:rPr lang="es-CO" b="0" i="1" smtClean="0">
                                  <a:latin typeface="Cambria Math" panose="02040503050406030204" pitchFamily="18" charset="0"/>
                                </a:rPr>
                                <m:t>2</m:t>
                              </m:r>
                            </m:sup>
                          </m:sSup>
                          <m:r>
                            <a:rPr lang="es-CO" b="0" i="1" smtClean="0">
                              <a:latin typeface="Cambria Math" panose="02040503050406030204" pitchFamily="18" charset="0"/>
                            </a:rPr>
                            <m:t>+2</m:t>
                          </m:r>
                          <m:r>
                            <a:rPr lang="es-CO" b="0" i="1" smtClean="0">
                              <a:latin typeface="Cambria Math" panose="02040503050406030204" pitchFamily="18" charset="0"/>
                            </a:rPr>
                            <m:t>𝑠</m:t>
                          </m:r>
                          <m:r>
                            <a:rPr lang="es-CO" b="0" i="1" smtClean="0">
                              <a:latin typeface="Cambria Math" panose="02040503050406030204" pitchFamily="18" charset="0"/>
                            </a:rPr>
                            <m:t>+2)</m:t>
                          </m:r>
                        </m:den>
                      </m:f>
                    </m:oMath>
                  </m:oMathPara>
                </a14:m>
                <a:endParaRPr lang="en-US"/>
              </a:p>
            </p:txBody>
          </p:sp>
        </mc:Choice>
        <mc:Fallback xmlns="">
          <p:sp>
            <p:nvSpPr>
              <p:cNvPr id="3" name="CuadroTexto 2">
                <a:extLst>
                  <a:ext uri="{FF2B5EF4-FFF2-40B4-BE49-F238E27FC236}">
                    <a16:creationId xmlns:a16="http://schemas.microsoft.com/office/drawing/2014/main" id="{8C746ED0-0581-E082-3587-BA132C7E4CDE}"/>
                  </a:ext>
                </a:extLst>
              </p:cNvPr>
              <p:cNvSpPr txBox="1">
                <a:spLocks noRot="1" noChangeAspect="1" noMove="1" noResize="1" noEditPoints="1" noAdjustHandles="1" noChangeArrowheads="1" noChangeShapeType="1" noTextEdit="1"/>
              </p:cNvSpPr>
              <p:nvPr/>
            </p:nvSpPr>
            <p:spPr>
              <a:xfrm>
                <a:off x="779463" y="3407039"/>
                <a:ext cx="3324052" cy="586699"/>
              </a:xfrm>
              <a:prstGeom prst="rect">
                <a:avLst/>
              </a:prstGeom>
              <a:blipFill>
                <a:blip r:embed="rId3"/>
                <a:stretch>
                  <a:fillRect/>
                </a:stretch>
              </a:blipFill>
            </p:spPr>
            <p:txBody>
              <a:bodyPr/>
              <a:lstStyle/>
              <a:p>
                <a:r>
                  <a:rPr lang="en-US">
                    <a:noFill/>
                  </a:rPr>
                  <a:t> </a:t>
                </a:r>
              </a:p>
            </p:txBody>
          </p:sp>
        </mc:Fallback>
      </mc:AlternateContent>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a:blip r:embed="rId4"/>
          <a:stretch>
            <a:fillRect/>
          </a:stretch>
        </p:blipFill>
        <p:spPr>
          <a:xfrm>
            <a:off x="3967917" y="2075196"/>
            <a:ext cx="4942906" cy="3847541"/>
          </a:xfrm>
          <a:prstGeom prst="rect">
            <a:avLst/>
          </a:prstGeom>
        </p:spPr>
      </p:pic>
    </p:spTree>
    <p:extLst>
      <p:ext uri="{BB962C8B-B14F-4D97-AF65-F5344CB8AC3E}">
        <p14:creationId xmlns:p14="http://schemas.microsoft.com/office/powerpoint/2010/main" val="963954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3) Número de LGR separados</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7</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8C746ED0-0581-E082-3587-BA132C7E4CDE}"/>
                  </a:ext>
                </a:extLst>
              </p:cNvPr>
              <p:cNvSpPr txBox="1"/>
              <p:nvPr/>
            </p:nvSpPr>
            <p:spPr>
              <a:xfrm>
                <a:off x="779463" y="3407039"/>
                <a:ext cx="2051331" cy="448328"/>
              </a:xfrm>
              <a:prstGeom prst="rect">
                <a:avLst/>
              </a:prstGeom>
              <a:noFill/>
            </p:spPr>
            <p:txBody>
              <a:bodyPr wrap="none" lIns="0" tIns="0" rIns="0" bIns="0" rtlCol="0">
                <a:spAutoFit/>
              </a:bodyPr>
              <a:lstStyle/>
              <a:p>
                <a:r>
                  <a:rPr lang="es-CO" b="0"/>
                  <a:t>1+</a:t>
                </a:r>
                <a14:m>
                  <m:oMath xmlns:m="http://schemas.openxmlformats.org/officeDocument/2006/math">
                    <m:f>
                      <m:fPr>
                        <m:ctrlPr>
                          <a:rPr lang="es-CO" b="0" i="1" smtClean="0">
                            <a:latin typeface="Cambria Math" panose="02040503050406030204" pitchFamily="18" charset="0"/>
                          </a:rPr>
                        </m:ctrlPr>
                      </m:fPr>
                      <m:num>
                        <m:r>
                          <a:rPr lang="es-CO" b="0" i="1" smtClean="0">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highlight>
                              <a:srgbClr val="FFFF00"/>
                            </a:highlight>
                            <a:latin typeface="Cambria Math" panose="02040503050406030204" pitchFamily="18" charset="0"/>
                          </a:rPr>
                          <m:t>𝑠</m:t>
                        </m:r>
                        <m:r>
                          <a:rPr lang="es-CO" b="0" i="1" smtClean="0">
                            <a:highlight>
                              <a:srgbClr val="FFFF00"/>
                            </a:highlight>
                            <a:latin typeface="Cambria Math" panose="02040503050406030204" pitchFamily="18" charset="0"/>
                          </a:rPr>
                          <m:t>(</m:t>
                        </m:r>
                        <m:r>
                          <a:rPr lang="es-CO" b="0" i="1" smtClean="0">
                            <a:highlight>
                              <a:srgbClr val="FFFF00"/>
                            </a:highlight>
                            <a:latin typeface="Cambria Math" panose="02040503050406030204" pitchFamily="18" charset="0"/>
                          </a:rPr>
                          <m:t>𝑠</m:t>
                        </m:r>
                        <m:r>
                          <a:rPr lang="es-CO" b="0" i="1" smtClean="0">
                            <a:highlight>
                              <a:srgbClr val="FFFF00"/>
                            </a:highlight>
                            <a:latin typeface="Cambria Math" panose="02040503050406030204" pitchFamily="18" charset="0"/>
                          </a:rPr>
                          <m:t>+5)(</m:t>
                        </m:r>
                        <m:r>
                          <a:rPr lang="es-CO" b="0" i="1" smtClean="0">
                            <a:highlight>
                              <a:srgbClr val="FFFF00"/>
                            </a:highlight>
                            <a:latin typeface="Cambria Math" panose="02040503050406030204" pitchFamily="18" charset="0"/>
                          </a:rPr>
                          <m:t>𝑠</m:t>
                        </m:r>
                        <m:r>
                          <a:rPr lang="es-CO" b="0" i="1" smtClean="0">
                            <a:highlight>
                              <a:srgbClr val="FFFF00"/>
                            </a:highlight>
                            <a:latin typeface="Cambria Math" panose="02040503050406030204" pitchFamily="18" charset="0"/>
                          </a:rPr>
                          <m:t>+6)(</m:t>
                        </m:r>
                        <m:sSup>
                          <m:sSupPr>
                            <m:ctrlPr>
                              <a:rPr lang="es-CO" b="0" i="1" smtClean="0">
                                <a:highlight>
                                  <a:srgbClr val="FFFF00"/>
                                </a:highlight>
                                <a:latin typeface="Cambria Math" panose="02040503050406030204" pitchFamily="18" charset="0"/>
                              </a:rPr>
                            </m:ctrlPr>
                          </m:sSupPr>
                          <m:e>
                            <m:r>
                              <a:rPr lang="es-CO" b="0" i="1" smtClean="0">
                                <a:highlight>
                                  <a:srgbClr val="FFFF00"/>
                                </a:highlight>
                                <a:latin typeface="Cambria Math" panose="02040503050406030204" pitchFamily="18" charset="0"/>
                              </a:rPr>
                              <m:t>𝑠</m:t>
                            </m:r>
                          </m:e>
                          <m:sup>
                            <m:r>
                              <a:rPr lang="es-CO" b="0" i="1" smtClean="0">
                                <a:highlight>
                                  <a:srgbClr val="FFFF00"/>
                                </a:highlight>
                                <a:latin typeface="Cambria Math" panose="02040503050406030204" pitchFamily="18" charset="0"/>
                              </a:rPr>
                              <m:t>2</m:t>
                            </m:r>
                          </m:sup>
                        </m:sSup>
                        <m:r>
                          <a:rPr lang="es-CO" b="0" i="1" smtClean="0">
                            <a:highlight>
                              <a:srgbClr val="FFFF00"/>
                            </a:highlight>
                            <a:latin typeface="Cambria Math" panose="02040503050406030204" pitchFamily="18" charset="0"/>
                          </a:rPr>
                          <m:t>+2</m:t>
                        </m:r>
                        <m:r>
                          <a:rPr lang="es-CO" b="0" i="1" smtClean="0">
                            <a:highlight>
                              <a:srgbClr val="FFFF00"/>
                            </a:highlight>
                            <a:latin typeface="Cambria Math" panose="02040503050406030204" pitchFamily="18" charset="0"/>
                          </a:rPr>
                          <m:t>𝑠</m:t>
                        </m:r>
                        <m:r>
                          <a:rPr lang="es-CO" b="0" i="1" smtClean="0">
                            <a:highlight>
                              <a:srgbClr val="FFFF00"/>
                            </a:highlight>
                            <a:latin typeface="Cambria Math" panose="02040503050406030204" pitchFamily="18" charset="0"/>
                          </a:rPr>
                          <m:t>+2)</m:t>
                        </m:r>
                      </m:den>
                    </m:f>
                  </m:oMath>
                </a14:m>
                <a:endParaRPr lang="en-US"/>
              </a:p>
            </p:txBody>
          </p:sp>
        </mc:Choice>
        <mc:Fallback xmlns="">
          <p:sp>
            <p:nvSpPr>
              <p:cNvPr id="3" name="CuadroTexto 2">
                <a:extLst>
                  <a:ext uri="{FF2B5EF4-FFF2-40B4-BE49-F238E27FC236}">
                    <a16:creationId xmlns:a16="http://schemas.microsoft.com/office/drawing/2014/main" id="{8C746ED0-0581-E082-3587-BA132C7E4CDE}"/>
                  </a:ext>
                </a:extLst>
              </p:cNvPr>
              <p:cNvSpPr txBox="1">
                <a:spLocks noRot="1" noChangeAspect="1" noMove="1" noResize="1" noEditPoints="1" noAdjustHandles="1" noChangeArrowheads="1" noChangeShapeType="1" noTextEdit="1"/>
              </p:cNvSpPr>
              <p:nvPr/>
            </p:nvSpPr>
            <p:spPr>
              <a:xfrm>
                <a:off x="779463" y="3407039"/>
                <a:ext cx="2051331" cy="448328"/>
              </a:xfrm>
              <a:prstGeom prst="rect">
                <a:avLst/>
              </a:prstGeom>
              <a:blipFill>
                <a:blip r:embed="rId3"/>
                <a:stretch>
                  <a:fillRect l="-7143" r="-3274" b="-17808"/>
                </a:stretch>
              </a:blipFill>
            </p:spPr>
            <p:txBody>
              <a:bodyPr/>
              <a:lstStyle/>
              <a:p>
                <a:r>
                  <a:rPr lang="en-US">
                    <a:noFill/>
                  </a:rPr>
                  <a:t> </a:t>
                </a:r>
              </a:p>
            </p:txBody>
          </p:sp>
        </mc:Fallback>
      </mc:AlternateContent>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a:blip r:embed="rId4"/>
          <a:stretch>
            <a:fillRect/>
          </a:stretch>
        </p:blipFill>
        <p:spPr>
          <a:xfrm>
            <a:off x="4022653" y="2121904"/>
            <a:ext cx="4942906" cy="3847541"/>
          </a:xfrm>
          <a:prstGeom prst="rect">
            <a:avLst/>
          </a:prstGeom>
        </p:spPr>
      </p:pic>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40BCDCF-5C04-F99F-0E1D-72B1E5470C4D}"/>
                  </a:ext>
                </a:extLst>
              </p:cNvPr>
              <p:cNvSpPr txBox="1"/>
              <p:nvPr/>
            </p:nvSpPr>
            <p:spPr>
              <a:xfrm>
                <a:off x="1633169" y="4810559"/>
                <a:ext cx="808106" cy="276999"/>
              </a:xfrm>
              <a:prstGeom prst="rect">
                <a:avLst/>
              </a:prstGeom>
              <a:noFill/>
            </p:spPr>
            <p:txBody>
              <a:bodyPr wrap="none" lIns="0" tIns="0" rIns="0" bIns="0" rtlCol="0">
                <a:spAutoFit/>
              </a:bodyPr>
              <a:lstStyle/>
              <a:p>
                <a14:m>
                  <m:oMath xmlns:m="http://schemas.openxmlformats.org/officeDocument/2006/math">
                    <m:r>
                      <a:rPr lang="es-CO" b="0" i="1" smtClean="0">
                        <a:latin typeface="Cambria Math" panose="02040503050406030204" pitchFamily="18" charset="0"/>
                      </a:rPr>
                      <m:t>𝐹</m:t>
                    </m:r>
                    <m:d>
                      <m:dPr>
                        <m:ctrlPr>
                          <a:rPr lang="es-CO" b="0" i="1" smtClean="0">
                            <a:latin typeface="Cambria Math" panose="02040503050406030204" pitchFamily="18" charset="0"/>
                          </a:rPr>
                        </m:ctrlPr>
                      </m:dPr>
                      <m:e>
                        <m:r>
                          <a:rPr lang="es-CO" b="0" i="1" smtClean="0">
                            <a:latin typeface="Cambria Math" panose="02040503050406030204" pitchFamily="18" charset="0"/>
                          </a:rPr>
                          <m:t>𝑠</m:t>
                        </m:r>
                      </m:e>
                    </m:d>
                    <m:r>
                      <a:rPr lang="es-CO" b="0" i="1" smtClean="0">
                        <a:latin typeface="Cambria Math" panose="02040503050406030204" pitchFamily="18" charset="0"/>
                      </a:rPr>
                      <m:t>=</m:t>
                    </m:r>
                  </m:oMath>
                </a14:m>
                <a:r>
                  <a:rPr lang="en-US"/>
                  <a:t>0</a:t>
                </a:r>
              </a:p>
            </p:txBody>
          </p:sp>
        </mc:Choice>
        <mc:Fallback xmlns="">
          <p:sp>
            <p:nvSpPr>
              <p:cNvPr id="4" name="CuadroTexto 3">
                <a:extLst>
                  <a:ext uri="{FF2B5EF4-FFF2-40B4-BE49-F238E27FC236}">
                    <a16:creationId xmlns:a16="http://schemas.microsoft.com/office/drawing/2014/main" id="{E40BCDCF-5C04-F99F-0E1D-72B1E5470C4D}"/>
                  </a:ext>
                </a:extLst>
              </p:cNvPr>
              <p:cNvSpPr txBox="1">
                <a:spLocks noRot="1" noChangeAspect="1" noMove="1" noResize="1" noEditPoints="1" noAdjustHandles="1" noChangeArrowheads="1" noChangeShapeType="1" noTextEdit="1"/>
              </p:cNvSpPr>
              <p:nvPr/>
            </p:nvSpPr>
            <p:spPr>
              <a:xfrm>
                <a:off x="1633169" y="4810559"/>
                <a:ext cx="808106" cy="276999"/>
              </a:xfrm>
              <a:prstGeom prst="rect">
                <a:avLst/>
              </a:prstGeom>
              <a:blipFill>
                <a:blip r:embed="rId5"/>
                <a:stretch>
                  <a:fillRect l="-10606" t="-28261" r="-16667" b="-50000"/>
                </a:stretch>
              </a:blipFill>
            </p:spPr>
            <p:txBody>
              <a:bodyPr/>
              <a:lstStyle/>
              <a:p>
                <a:r>
                  <a:rPr lang="en-US">
                    <a:noFill/>
                  </a:rPr>
                  <a:t> </a:t>
                </a:r>
              </a:p>
            </p:txBody>
          </p:sp>
        </mc:Fallback>
      </mc:AlternateContent>
      <p:sp>
        <p:nvSpPr>
          <p:cNvPr id="6" name="Título 1">
            <a:extLst>
              <a:ext uri="{FF2B5EF4-FFF2-40B4-BE49-F238E27FC236}">
                <a16:creationId xmlns:a16="http://schemas.microsoft.com/office/drawing/2014/main" id="{7AF7DC6D-0017-A2C0-8CFB-78C5B6A30D96}"/>
              </a:ext>
            </a:extLst>
          </p:cNvPr>
          <p:cNvSpPr txBox="1">
            <a:spLocks/>
          </p:cNvSpPr>
          <p:nvPr/>
        </p:nvSpPr>
        <p:spPr>
          <a:xfrm>
            <a:off x="582239" y="5174725"/>
            <a:ext cx="3371010" cy="794720"/>
          </a:xfrm>
          <a:prstGeom prst="rect">
            <a:avLst/>
          </a:prstGeom>
        </p:spPr>
        <p:txBody>
          <a:bodyPr vert="horz" lIns="91440" tIns="45720" rIns="91440" bIns="45720" rtlCol="0" anchor="b">
            <a:normAutofit fontScale="62500" lnSpcReduction="20000"/>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r>
              <a:rPr lang="es-ES"/>
              <a:t>El número de ramas del LGR es igual al grado del polinomio característico, es decir, al número total de polos del sistema cerrado.</a:t>
            </a:r>
            <a:endParaRPr lang="es-CO"/>
          </a:p>
        </p:txBody>
      </p:sp>
    </p:spTree>
    <p:extLst>
      <p:ext uri="{BB962C8B-B14F-4D97-AF65-F5344CB8AC3E}">
        <p14:creationId xmlns:p14="http://schemas.microsoft.com/office/powerpoint/2010/main" val="1683850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4) Simetría</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8</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a:blip r:embed="rId3"/>
          <a:stretch>
            <a:fillRect/>
          </a:stretch>
        </p:blipFill>
        <p:spPr>
          <a:xfrm>
            <a:off x="4022653" y="2121904"/>
            <a:ext cx="4942906" cy="3847541"/>
          </a:xfrm>
          <a:prstGeom prst="rect">
            <a:avLst/>
          </a:prstGeom>
        </p:spPr>
      </p:pic>
      <p:sp>
        <p:nvSpPr>
          <p:cNvPr id="6" name="Título 1">
            <a:extLst>
              <a:ext uri="{FF2B5EF4-FFF2-40B4-BE49-F238E27FC236}">
                <a16:creationId xmlns:a16="http://schemas.microsoft.com/office/drawing/2014/main" id="{7AF7DC6D-0017-A2C0-8CFB-78C5B6A30D96}"/>
              </a:ext>
            </a:extLst>
          </p:cNvPr>
          <p:cNvSpPr txBox="1">
            <a:spLocks/>
          </p:cNvSpPr>
          <p:nvPr/>
        </p:nvSpPr>
        <p:spPr>
          <a:xfrm>
            <a:off x="389731" y="3141737"/>
            <a:ext cx="3632922" cy="2083406"/>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a:t>Los lugares geométricos de las raíces son siempre simétricos respecto al eje real del plano completo. Esto se debe a que los coeficientes de los polinomios característicos son reales, lo que implica que cualquier raíz compleja debe tener su conjugada como otra raíz.</a:t>
            </a:r>
          </a:p>
          <a:p>
            <a:br>
              <a:rPr lang="es-ES" sz="1600"/>
            </a:br>
            <a:endParaRPr lang="es-CO" sz="1600"/>
          </a:p>
        </p:txBody>
      </p:sp>
    </p:spTree>
    <p:extLst>
      <p:ext uri="{BB962C8B-B14F-4D97-AF65-F5344CB8AC3E}">
        <p14:creationId xmlns:p14="http://schemas.microsoft.com/office/powerpoint/2010/main" val="3777981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5) Asíntotas</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9</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rotWithShape="1">
          <a:blip r:embed="rId3"/>
          <a:srcRect l="-291" t="-373" r="291" b="746"/>
          <a:stretch/>
        </p:blipFill>
        <p:spPr>
          <a:xfrm>
            <a:off x="4022653" y="2121904"/>
            <a:ext cx="4942910" cy="3833190"/>
          </a:xfrm>
          <a:prstGeom prst="rect">
            <a:avLst/>
          </a:prstGeom>
        </p:spPr>
      </p:pic>
      <p:sp>
        <p:nvSpPr>
          <p:cNvPr id="6" name="Título 1">
            <a:extLst>
              <a:ext uri="{FF2B5EF4-FFF2-40B4-BE49-F238E27FC236}">
                <a16:creationId xmlns:a16="http://schemas.microsoft.com/office/drawing/2014/main" id="{7AF7DC6D-0017-A2C0-8CFB-78C5B6A30D96}"/>
              </a:ext>
            </a:extLst>
          </p:cNvPr>
          <p:cNvSpPr txBox="1">
            <a:spLocks/>
          </p:cNvSpPr>
          <p:nvPr/>
        </p:nvSpPr>
        <p:spPr>
          <a:xfrm>
            <a:off x="451283" y="2103756"/>
            <a:ext cx="3632922" cy="465782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a:t>Para valores grandes de s, el lugar geométrico de las raíces para k&gt;=0, son asintóticas con asíntotas con ángulos dadas por (RL):</a:t>
            </a:r>
          </a:p>
          <a:p>
            <a:pPr algn="l"/>
            <a:endParaRPr lang="es-ES" sz="1600"/>
          </a:p>
          <a:p>
            <a:pPr algn="l"/>
            <a:endParaRPr lang="es-ES" sz="1600"/>
          </a:p>
          <a:p>
            <a:pPr algn="l"/>
            <a:endParaRPr lang="es-ES" sz="1600"/>
          </a:p>
          <a:p>
            <a:pPr algn="l"/>
            <a:endParaRPr lang="es-ES" sz="1600"/>
          </a:p>
          <a:p>
            <a:pPr algn="l"/>
            <a:endParaRPr lang="es-ES" sz="1600"/>
          </a:p>
          <a:p>
            <a:pPr algn="l"/>
            <a:endParaRPr lang="es-ES" sz="1600"/>
          </a:p>
          <a:p>
            <a:pPr algn="l"/>
            <a:r>
              <a:rPr lang="es-ES" sz="1600"/>
              <a:t>Para k&lt;0 (CRL)</a:t>
            </a:r>
          </a:p>
          <a:p>
            <a:pPr algn="l"/>
            <a:endParaRPr lang="es-ES" sz="1600"/>
          </a:p>
          <a:p>
            <a:pPr algn="l"/>
            <a:endParaRPr lang="es-ES" sz="1600"/>
          </a:p>
          <a:p>
            <a:pPr algn="l"/>
            <a:endParaRPr lang="es-ES" sz="1600"/>
          </a:p>
          <a:p>
            <a:pPr algn="l"/>
            <a:r>
              <a:rPr lang="es-ES" sz="1600"/>
              <a:t>Donde n=número de polos</a:t>
            </a:r>
          </a:p>
          <a:p>
            <a:pPr algn="l"/>
            <a:r>
              <a:rPr lang="es-ES" sz="1600"/>
              <a:t>m= número de ceros</a:t>
            </a:r>
          </a:p>
          <a:p>
            <a:br>
              <a:rPr lang="es-ES" sz="1600"/>
            </a:br>
            <a:endParaRPr lang="es-CO" sz="160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F786758-ECA4-97A4-284A-A6C12E01D76E}"/>
                  </a:ext>
                </a:extLst>
              </p:cNvPr>
              <p:cNvSpPr txBox="1"/>
              <p:nvPr/>
            </p:nvSpPr>
            <p:spPr>
              <a:xfrm>
                <a:off x="1272345" y="3903625"/>
                <a:ext cx="1929246" cy="5670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𝞱</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b="0" i="1" smtClean="0">
                              <a:latin typeface="Cambria Math" panose="02040503050406030204" pitchFamily="18" charset="0"/>
                            </a:rPr>
                            <m:t>2</m:t>
                          </m:r>
                          <m:r>
                            <a:rPr lang="es-CO" b="0" i="1" smtClean="0">
                              <a:latin typeface="Cambria Math" panose="02040503050406030204" pitchFamily="18" charset="0"/>
                            </a:rPr>
                            <m:t>𝑖</m:t>
                          </m:r>
                          <m:r>
                            <a:rPr lang="es-CO" b="0" i="1" smtClean="0">
                              <a:latin typeface="Cambria Math" panose="02040503050406030204" pitchFamily="18" charset="0"/>
                            </a:rPr>
                            <m:t>+1</m:t>
                          </m:r>
                        </m:num>
                        <m:den>
                          <m:r>
                            <a:rPr lang="es-CO" b="0" i="1" smtClean="0">
                              <a:latin typeface="Cambria Math" panose="02040503050406030204" pitchFamily="18" charset="0"/>
                            </a:rPr>
                            <m:t>|</m:t>
                          </m:r>
                          <m:r>
                            <a:rPr lang="es-CO" b="0" i="1" smtClean="0">
                              <a:latin typeface="Cambria Math" panose="02040503050406030204" pitchFamily="18" charset="0"/>
                            </a:rPr>
                            <m:t>𝑛</m:t>
                          </m:r>
                          <m:r>
                            <a:rPr lang="es-CO" b="0" i="1" smtClean="0">
                              <a:latin typeface="Cambria Math" panose="02040503050406030204" pitchFamily="18" charset="0"/>
                            </a:rPr>
                            <m:t>−</m:t>
                          </m:r>
                          <m:r>
                            <a:rPr lang="es-CO" b="0" i="1" smtClean="0">
                              <a:latin typeface="Cambria Math" panose="02040503050406030204" pitchFamily="18" charset="0"/>
                            </a:rPr>
                            <m:t>𝑚</m:t>
                          </m:r>
                          <m:r>
                            <a:rPr lang="es-CO" b="0" i="1" smtClean="0">
                              <a:latin typeface="Cambria Math" panose="02040503050406030204" pitchFamily="18" charset="0"/>
                            </a:rPr>
                            <m:t>|</m:t>
                          </m:r>
                        </m:den>
                      </m:f>
                      <m:r>
                        <a:rPr lang="es-CO" b="0" i="1" smtClean="0">
                          <a:latin typeface="Cambria Math" panose="02040503050406030204" pitchFamily="18" charset="0"/>
                        </a:rPr>
                        <m:t>∗180</m:t>
                      </m:r>
                    </m:oMath>
                  </m:oMathPara>
                </a14:m>
                <a:endParaRPr lang="en-US"/>
              </a:p>
            </p:txBody>
          </p:sp>
        </mc:Choice>
        <mc:Fallback xmlns="">
          <p:sp>
            <p:nvSpPr>
              <p:cNvPr id="3" name="CuadroTexto 2">
                <a:extLst>
                  <a:ext uri="{FF2B5EF4-FFF2-40B4-BE49-F238E27FC236}">
                    <a16:creationId xmlns:a16="http://schemas.microsoft.com/office/drawing/2014/main" id="{CF786758-ECA4-97A4-284A-A6C12E01D76E}"/>
                  </a:ext>
                </a:extLst>
              </p:cNvPr>
              <p:cNvSpPr txBox="1">
                <a:spLocks noRot="1" noChangeAspect="1" noMove="1" noResize="1" noEditPoints="1" noAdjustHandles="1" noChangeArrowheads="1" noChangeShapeType="1" noTextEdit="1"/>
              </p:cNvSpPr>
              <p:nvPr/>
            </p:nvSpPr>
            <p:spPr>
              <a:xfrm>
                <a:off x="1272345" y="3903625"/>
                <a:ext cx="1929246" cy="56707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EC3ED09-C587-BC3F-29DD-362EDC4E277C}"/>
                  </a:ext>
                </a:extLst>
              </p:cNvPr>
              <p:cNvSpPr txBox="1"/>
              <p:nvPr/>
            </p:nvSpPr>
            <p:spPr>
              <a:xfrm>
                <a:off x="1272345" y="5107274"/>
                <a:ext cx="1929246" cy="5670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𝞱</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b="0" i="1" smtClean="0">
                              <a:latin typeface="Cambria Math" panose="02040503050406030204" pitchFamily="18" charset="0"/>
                            </a:rPr>
                            <m:t>2</m:t>
                          </m:r>
                          <m:r>
                            <a:rPr lang="es-CO" b="0" i="1" smtClean="0">
                              <a:latin typeface="Cambria Math" panose="02040503050406030204" pitchFamily="18" charset="0"/>
                            </a:rPr>
                            <m:t>𝑖</m:t>
                          </m:r>
                        </m:num>
                        <m:den>
                          <m:r>
                            <a:rPr lang="es-CO" b="0" i="1" smtClean="0">
                              <a:latin typeface="Cambria Math" panose="02040503050406030204" pitchFamily="18" charset="0"/>
                            </a:rPr>
                            <m:t>|</m:t>
                          </m:r>
                          <m:r>
                            <a:rPr lang="es-CO" b="0" i="1" smtClean="0">
                              <a:latin typeface="Cambria Math" panose="02040503050406030204" pitchFamily="18" charset="0"/>
                            </a:rPr>
                            <m:t>𝑛</m:t>
                          </m:r>
                          <m:r>
                            <a:rPr lang="es-CO" b="0" i="1" smtClean="0">
                              <a:latin typeface="Cambria Math" panose="02040503050406030204" pitchFamily="18" charset="0"/>
                            </a:rPr>
                            <m:t>−</m:t>
                          </m:r>
                          <m:r>
                            <a:rPr lang="es-CO" b="0" i="1" smtClean="0">
                              <a:latin typeface="Cambria Math" panose="02040503050406030204" pitchFamily="18" charset="0"/>
                            </a:rPr>
                            <m:t>𝑚</m:t>
                          </m:r>
                          <m:r>
                            <a:rPr lang="es-CO" b="0" i="1" smtClean="0">
                              <a:latin typeface="Cambria Math" panose="02040503050406030204" pitchFamily="18" charset="0"/>
                            </a:rPr>
                            <m:t>|</m:t>
                          </m:r>
                        </m:den>
                      </m:f>
                      <m:r>
                        <a:rPr lang="es-CO" b="0" i="1" smtClean="0">
                          <a:latin typeface="Cambria Math" panose="02040503050406030204" pitchFamily="18" charset="0"/>
                        </a:rPr>
                        <m:t>∗180</m:t>
                      </m:r>
                    </m:oMath>
                  </m:oMathPara>
                </a14:m>
                <a:endParaRPr lang="en-US"/>
              </a:p>
            </p:txBody>
          </p:sp>
        </mc:Choice>
        <mc:Fallback xmlns="">
          <p:sp>
            <p:nvSpPr>
              <p:cNvPr id="4" name="CuadroTexto 3">
                <a:extLst>
                  <a:ext uri="{FF2B5EF4-FFF2-40B4-BE49-F238E27FC236}">
                    <a16:creationId xmlns:a16="http://schemas.microsoft.com/office/drawing/2014/main" id="{4EC3ED09-C587-BC3F-29DD-362EDC4E277C}"/>
                  </a:ext>
                </a:extLst>
              </p:cNvPr>
              <p:cNvSpPr txBox="1">
                <a:spLocks noRot="1" noChangeAspect="1" noMove="1" noResize="1" noEditPoints="1" noAdjustHandles="1" noChangeArrowheads="1" noChangeShapeType="1" noTextEdit="1"/>
              </p:cNvSpPr>
              <p:nvPr/>
            </p:nvSpPr>
            <p:spPr>
              <a:xfrm>
                <a:off x="1272345" y="5107274"/>
                <a:ext cx="1929246" cy="56707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25006CB-BF63-8327-CE97-17BFFF2A9ABF}"/>
                  </a:ext>
                </a:extLst>
              </p:cNvPr>
              <p:cNvSpPr txBox="1"/>
              <p:nvPr/>
            </p:nvSpPr>
            <p:spPr>
              <a:xfrm>
                <a:off x="5034059" y="1297232"/>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1+</m:t>
                      </m:r>
                      <m:f>
                        <m:fPr>
                          <m:ctrlPr>
                            <a:rPr lang="es-CO" b="0" i="1" smtClean="0">
                              <a:solidFill>
                                <a:schemeClr val="tx1"/>
                              </a:solidFill>
                              <a:latin typeface="Cambria Math" panose="02040503050406030204" pitchFamily="18" charset="0"/>
                            </a:rPr>
                          </m:ctrlPr>
                        </m:fPr>
                        <m:num>
                          <m:r>
                            <a:rPr lang="es-CO" b="0" i="1" smtClean="0">
                              <a:solidFill>
                                <a:schemeClr val="tx1"/>
                              </a:solidFill>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+5)(</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+6)(</m:t>
                          </m:r>
                          <m:sSup>
                            <m:sSupPr>
                              <m:ctrlPr>
                                <a:rPr lang="es-CO" b="0" i="1" smtClean="0">
                                  <a:solidFill>
                                    <a:schemeClr val="tx1"/>
                                  </a:solidFill>
                                  <a:latin typeface="Cambria Math" panose="02040503050406030204" pitchFamily="18" charset="0"/>
                                </a:rPr>
                              </m:ctrlPr>
                            </m:sSupPr>
                            <m:e>
                              <m:r>
                                <a:rPr lang="es-CO" b="0" i="1" smtClean="0">
                                  <a:solidFill>
                                    <a:schemeClr val="tx1"/>
                                  </a:solidFill>
                                  <a:latin typeface="Cambria Math" panose="02040503050406030204" pitchFamily="18" charset="0"/>
                                </a:rPr>
                                <m:t>𝑠</m:t>
                              </m:r>
                            </m:e>
                            <m:sup>
                              <m:r>
                                <a:rPr lang="es-CO" b="0" i="1" smtClean="0">
                                  <a:solidFill>
                                    <a:schemeClr val="tx1"/>
                                  </a:solidFill>
                                  <a:latin typeface="Cambria Math" panose="02040503050406030204" pitchFamily="18" charset="0"/>
                                </a:rPr>
                                <m:t>2</m:t>
                              </m:r>
                            </m:sup>
                          </m:sSup>
                          <m:r>
                            <a:rPr lang="es-CO" b="0" i="1" smtClean="0">
                              <a:solidFill>
                                <a:schemeClr val="tx1"/>
                              </a:solidFill>
                              <a:latin typeface="Cambria Math" panose="02040503050406030204" pitchFamily="18" charset="0"/>
                            </a:rPr>
                            <m:t>+2</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+2)</m:t>
                          </m:r>
                        </m:den>
                      </m:f>
                    </m:oMath>
                  </m:oMathPara>
                </a14:m>
                <a:endParaRPr lang="en-US"/>
              </a:p>
            </p:txBody>
          </p:sp>
        </mc:Choice>
        <mc:Fallback xmlns="">
          <p:sp>
            <p:nvSpPr>
              <p:cNvPr id="7" name="CuadroTexto 6">
                <a:extLst>
                  <a:ext uri="{FF2B5EF4-FFF2-40B4-BE49-F238E27FC236}">
                    <a16:creationId xmlns:a16="http://schemas.microsoft.com/office/drawing/2014/main" id="{D25006CB-BF63-8327-CE97-17BFFF2A9ABF}"/>
                  </a:ext>
                </a:extLst>
              </p:cNvPr>
              <p:cNvSpPr txBox="1">
                <a:spLocks noRot="1" noChangeAspect="1" noMove="1" noResize="1" noEditPoints="1" noAdjustHandles="1" noChangeArrowheads="1" noChangeShapeType="1" noTextEdit="1"/>
              </p:cNvSpPr>
              <p:nvPr/>
            </p:nvSpPr>
            <p:spPr>
              <a:xfrm>
                <a:off x="5034059" y="1297232"/>
                <a:ext cx="3324052" cy="5866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14E146A-50D6-E596-24D5-6F76303400B6}"/>
                  </a:ext>
                </a:extLst>
              </p:cNvPr>
              <p:cNvSpPr txBox="1"/>
              <p:nvPr/>
            </p:nvSpPr>
            <p:spPr>
              <a:xfrm>
                <a:off x="5878971" y="6082927"/>
                <a:ext cx="2581732" cy="574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𝞱</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b="0" i="1" smtClean="0">
                              <a:latin typeface="Cambria Math" panose="02040503050406030204" pitchFamily="18" charset="0"/>
                            </a:rPr>
                            <m:t>2(0)+1</m:t>
                          </m:r>
                        </m:num>
                        <m:den>
                          <m:r>
                            <a:rPr lang="es-CO" b="0" i="1" smtClean="0">
                              <a:latin typeface="Cambria Math" panose="02040503050406030204" pitchFamily="18" charset="0"/>
                            </a:rPr>
                            <m:t>|5−1|</m:t>
                          </m:r>
                        </m:den>
                      </m:f>
                      <m:r>
                        <a:rPr lang="es-CO" b="0" i="1" smtClean="0">
                          <a:latin typeface="Cambria Math" panose="02040503050406030204" pitchFamily="18" charset="0"/>
                        </a:rPr>
                        <m:t>∗180=45</m:t>
                      </m:r>
                    </m:oMath>
                  </m:oMathPara>
                </a14:m>
                <a:endParaRPr lang="en-US"/>
              </a:p>
            </p:txBody>
          </p:sp>
        </mc:Choice>
        <mc:Fallback xmlns="">
          <p:sp>
            <p:nvSpPr>
              <p:cNvPr id="12" name="CuadroTexto 11">
                <a:extLst>
                  <a:ext uri="{FF2B5EF4-FFF2-40B4-BE49-F238E27FC236}">
                    <a16:creationId xmlns:a16="http://schemas.microsoft.com/office/drawing/2014/main" id="{414E146A-50D6-E596-24D5-6F76303400B6}"/>
                  </a:ext>
                </a:extLst>
              </p:cNvPr>
              <p:cNvSpPr txBox="1">
                <a:spLocks noRot="1" noChangeAspect="1" noMove="1" noResize="1" noEditPoints="1" noAdjustHandles="1" noChangeArrowheads="1" noChangeShapeType="1" noTextEdit="1"/>
              </p:cNvSpPr>
              <p:nvPr/>
            </p:nvSpPr>
            <p:spPr>
              <a:xfrm>
                <a:off x="5878971" y="6082927"/>
                <a:ext cx="2581732" cy="57426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446A7BC-5B07-97FA-B9C6-9049703CE2B4}"/>
                  </a:ext>
                </a:extLst>
              </p:cNvPr>
              <p:cNvSpPr txBox="1"/>
              <p:nvPr/>
            </p:nvSpPr>
            <p:spPr>
              <a:xfrm>
                <a:off x="3279106" y="6082927"/>
                <a:ext cx="2280368" cy="5742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𝞱</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b="0" i="1" smtClean="0">
                              <a:latin typeface="Cambria Math" panose="02040503050406030204" pitchFamily="18" charset="0"/>
                            </a:rPr>
                            <m:t>2(0)</m:t>
                          </m:r>
                        </m:num>
                        <m:den>
                          <m:r>
                            <a:rPr lang="es-CO" b="0" i="1" smtClean="0">
                              <a:latin typeface="Cambria Math" panose="02040503050406030204" pitchFamily="18" charset="0"/>
                            </a:rPr>
                            <m:t>|5−1|</m:t>
                          </m:r>
                        </m:den>
                      </m:f>
                      <m:r>
                        <a:rPr lang="es-CO" b="0" i="1" smtClean="0">
                          <a:latin typeface="Cambria Math" panose="02040503050406030204" pitchFamily="18" charset="0"/>
                        </a:rPr>
                        <m:t>∗180=0</m:t>
                      </m:r>
                    </m:oMath>
                  </m:oMathPara>
                </a14:m>
                <a:endParaRPr lang="en-US"/>
              </a:p>
            </p:txBody>
          </p:sp>
        </mc:Choice>
        <mc:Fallback xmlns="">
          <p:sp>
            <p:nvSpPr>
              <p:cNvPr id="13" name="CuadroTexto 12">
                <a:extLst>
                  <a:ext uri="{FF2B5EF4-FFF2-40B4-BE49-F238E27FC236}">
                    <a16:creationId xmlns:a16="http://schemas.microsoft.com/office/drawing/2014/main" id="{E446A7BC-5B07-97FA-B9C6-9049703CE2B4}"/>
                  </a:ext>
                </a:extLst>
              </p:cNvPr>
              <p:cNvSpPr txBox="1">
                <a:spLocks noRot="1" noChangeAspect="1" noMove="1" noResize="1" noEditPoints="1" noAdjustHandles="1" noChangeArrowheads="1" noChangeShapeType="1" noTextEdit="1"/>
              </p:cNvSpPr>
              <p:nvPr/>
            </p:nvSpPr>
            <p:spPr>
              <a:xfrm>
                <a:off x="3279106" y="6082927"/>
                <a:ext cx="2280368" cy="57426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5939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6) Intersección asíntotas </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10</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9" name="Imagen 8">
            <a:extLst>
              <a:ext uri="{FF2B5EF4-FFF2-40B4-BE49-F238E27FC236}">
                <a16:creationId xmlns:a16="http://schemas.microsoft.com/office/drawing/2014/main" id="{19D7B514-6E96-A997-E0F8-208C52312903}"/>
              </a:ext>
            </a:extLst>
          </p:cNvPr>
          <p:cNvPicPr>
            <a:picLocks noChangeAspect="1"/>
          </p:cNvPicPr>
          <p:nvPr/>
        </p:nvPicPr>
        <p:blipFill>
          <a:blip r:embed="rId3"/>
          <a:stretch>
            <a:fillRect/>
          </a:stretch>
        </p:blipFill>
        <p:spPr>
          <a:xfrm>
            <a:off x="4022653" y="2121904"/>
            <a:ext cx="4942906" cy="3847541"/>
          </a:xfrm>
          <a:prstGeom prst="rect">
            <a:avLst/>
          </a:prstGeom>
        </p:spPr>
      </p:pic>
      <p:sp>
        <p:nvSpPr>
          <p:cNvPr id="6" name="Título 1">
            <a:extLst>
              <a:ext uri="{FF2B5EF4-FFF2-40B4-BE49-F238E27FC236}">
                <a16:creationId xmlns:a16="http://schemas.microsoft.com/office/drawing/2014/main" id="{7AF7DC6D-0017-A2C0-8CFB-78C5B6A30D96}"/>
              </a:ext>
            </a:extLst>
          </p:cNvPr>
          <p:cNvSpPr txBox="1">
            <a:spLocks/>
          </p:cNvSpPr>
          <p:nvPr/>
        </p:nvSpPr>
        <p:spPr>
          <a:xfrm>
            <a:off x="451283" y="2103756"/>
            <a:ext cx="3632922" cy="2561978"/>
          </a:xfrm>
          <a:prstGeom prst="rect">
            <a:avLst/>
          </a:prstGeom>
        </p:spPr>
        <p:txBody>
          <a:bodyPr vert="horz" lIns="91440" tIns="45720" rIns="91440" bIns="45720" rtlCol="0" anchor="b">
            <a:normAutofit fontScale="92500" lnSpcReduction="10000"/>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a:t>La intersección de las asíntotas solo cae sobre el eje real.</a:t>
            </a:r>
          </a:p>
          <a:p>
            <a:pPr algn="l"/>
            <a:endParaRPr lang="es-ES" sz="1600"/>
          </a:p>
          <a:p>
            <a:pPr algn="l"/>
            <a:endParaRPr lang="es-ES" sz="1600"/>
          </a:p>
          <a:p>
            <a:pPr algn="l"/>
            <a:endParaRPr lang="es-ES" sz="1600"/>
          </a:p>
          <a:p>
            <a:pPr algn="l"/>
            <a:endParaRPr lang="es-ES" sz="1600"/>
          </a:p>
          <a:p>
            <a:endParaRPr lang="es-ES" sz="1600"/>
          </a:p>
          <a:p>
            <a:pPr algn="l"/>
            <a:endParaRPr lang="es-ES" sz="1600"/>
          </a:p>
          <a:p>
            <a:pPr algn="l"/>
            <a:endParaRPr lang="es-ES" sz="1600"/>
          </a:p>
          <a:p>
            <a:pPr algn="l"/>
            <a:endParaRPr lang="es-ES" sz="1600"/>
          </a:p>
          <a:p>
            <a:pPr algn="l"/>
            <a:endParaRPr lang="es-ES" sz="1600"/>
          </a:p>
          <a:p>
            <a:br>
              <a:rPr lang="es-ES" sz="1600"/>
            </a:br>
            <a:endParaRPr lang="es-CO" sz="160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25006CB-BF63-8327-CE97-17BFFF2A9ABF}"/>
                  </a:ext>
                </a:extLst>
              </p:cNvPr>
              <p:cNvSpPr txBox="1"/>
              <p:nvPr/>
            </p:nvSpPr>
            <p:spPr>
              <a:xfrm>
                <a:off x="5034059" y="1297232"/>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1+</m:t>
                      </m:r>
                      <m:f>
                        <m:fPr>
                          <m:ctrlPr>
                            <a:rPr lang="es-CO" b="0" i="1" smtClean="0">
                              <a:solidFill>
                                <a:schemeClr val="tx1"/>
                              </a:solidFill>
                              <a:latin typeface="Cambria Math" panose="02040503050406030204" pitchFamily="18" charset="0"/>
                            </a:rPr>
                          </m:ctrlPr>
                        </m:fPr>
                        <m:num>
                          <m:r>
                            <a:rPr lang="es-CO" b="0" i="1" smtClean="0">
                              <a:solidFill>
                                <a:schemeClr val="tx1"/>
                              </a:solidFill>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+5)(</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+6)(</m:t>
                          </m:r>
                          <m:sSup>
                            <m:sSupPr>
                              <m:ctrlPr>
                                <a:rPr lang="es-CO" b="0" i="1" smtClean="0">
                                  <a:solidFill>
                                    <a:schemeClr val="tx1"/>
                                  </a:solidFill>
                                  <a:latin typeface="Cambria Math" panose="02040503050406030204" pitchFamily="18" charset="0"/>
                                </a:rPr>
                              </m:ctrlPr>
                            </m:sSupPr>
                            <m:e>
                              <m:r>
                                <a:rPr lang="es-CO" b="0" i="1" smtClean="0">
                                  <a:solidFill>
                                    <a:schemeClr val="tx1"/>
                                  </a:solidFill>
                                  <a:latin typeface="Cambria Math" panose="02040503050406030204" pitchFamily="18" charset="0"/>
                                </a:rPr>
                                <m:t>𝑠</m:t>
                              </m:r>
                            </m:e>
                            <m:sup>
                              <m:r>
                                <a:rPr lang="es-CO" b="0" i="1" smtClean="0">
                                  <a:solidFill>
                                    <a:schemeClr val="tx1"/>
                                  </a:solidFill>
                                  <a:latin typeface="Cambria Math" panose="02040503050406030204" pitchFamily="18" charset="0"/>
                                </a:rPr>
                                <m:t>2</m:t>
                              </m:r>
                            </m:sup>
                          </m:sSup>
                          <m:r>
                            <a:rPr lang="es-CO" b="0" i="1" smtClean="0">
                              <a:solidFill>
                                <a:schemeClr val="tx1"/>
                              </a:solidFill>
                              <a:latin typeface="Cambria Math" panose="02040503050406030204" pitchFamily="18" charset="0"/>
                            </a:rPr>
                            <m:t>+2</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+2)</m:t>
                          </m:r>
                        </m:den>
                      </m:f>
                    </m:oMath>
                  </m:oMathPara>
                </a14:m>
                <a:endParaRPr lang="en-US"/>
              </a:p>
            </p:txBody>
          </p:sp>
        </mc:Choice>
        <mc:Fallback xmlns="">
          <p:sp>
            <p:nvSpPr>
              <p:cNvPr id="7" name="CuadroTexto 6">
                <a:extLst>
                  <a:ext uri="{FF2B5EF4-FFF2-40B4-BE49-F238E27FC236}">
                    <a16:creationId xmlns:a16="http://schemas.microsoft.com/office/drawing/2014/main" id="{D25006CB-BF63-8327-CE97-17BFFF2A9ABF}"/>
                  </a:ext>
                </a:extLst>
              </p:cNvPr>
              <p:cNvSpPr txBox="1">
                <a:spLocks noRot="1" noChangeAspect="1" noMove="1" noResize="1" noEditPoints="1" noAdjustHandles="1" noChangeArrowheads="1" noChangeShapeType="1" noTextEdit="1"/>
              </p:cNvSpPr>
              <p:nvPr/>
            </p:nvSpPr>
            <p:spPr>
              <a:xfrm>
                <a:off x="5034059" y="1297232"/>
                <a:ext cx="3324052" cy="5866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8741095-F0F3-2357-2597-AC54A8CEA82E}"/>
                  </a:ext>
                </a:extLst>
              </p:cNvPr>
              <p:cNvSpPr txBox="1"/>
              <p:nvPr/>
            </p:nvSpPr>
            <p:spPr>
              <a:xfrm>
                <a:off x="1172819" y="3881854"/>
                <a:ext cx="2261004"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𝞼</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i="1">
                              <a:latin typeface="Cambria Math" panose="02040503050406030204" pitchFamily="18" charset="0"/>
                            </a:rPr>
                            <m:t>𝛴</m:t>
                          </m:r>
                          <m:r>
                            <a:rPr lang="es-CO" i="1">
                              <a:latin typeface="Cambria Math" panose="02040503050406030204" pitchFamily="18" charset="0"/>
                            </a:rPr>
                            <m:t>𝑝𝑜𝑙𝑜𝑠</m:t>
                          </m:r>
                          <m:r>
                            <a:rPr lang="es-CO" i="1">
                              <a:latin typeface="Cambria Math" panose="02040503050406030204" pitchFamily="18" charset="0"/>
                            </a:rPr>
                            <m:t>−</m:t>
                          </m:r>
                          <m:r>
                            <a:rPr lang="es-CO" i="1">
                              <a:latin typeface="Cambria Math" panose="02040503050406030204" pitchFamily="18" charset="0"/>
                            </a:rPr>
                            <m:t>𝛴</m:t>
                          </m:r>
                          <m:r>
                            <a:rPr lang="es-CO" b="0" i="1" smtClean="0">
                              <a:latin typeface="Cambria Math" panose="02040503050406030204" pitchFamily="18" charset="0"/>
                            </a:rPr>
                            <m:t>𝑐𝑒𝑟𝑜𝑠</m:t>
                          </m:r>
                        </m:num>
                        <m:den>
                          <m:r>
                            <a:rPr lang="es-CO" b="0" i="1" smtClean="0">
                              <a:latin typeface="Cambria Math" panose="02040503050406030204" pitchFamily="18" charset="0"/>
                            </a:rPr>
                            <m:t>𝑛</m:t>
                          </m:r>
                          <m:r>
                            <a:rPr lang="es-CO" b="0" i="1" smtClean="0">
                              <a:latin typeface="Cambria Math" panose="02040503050406030204" pitchFamily="18" charset="0"/>
                            </a:rPr>
                            <m:t>−</m:t>
                          </m:r>
                          <m:r>
                            <a:rPr lang="es-CO" b="0" i="1" smtClean="0">
                              <a:latin typeface="Cambria Math" panose="02040503050406030204" pitchFamily="18" charset="0"/>
                            </a:rPr>
                            <m:t>𝑚</m:t>
                          </m:r>
                        </m:den>
                      </m:f>
                    </m:oMath>
                  </m:oMathPara>
                </a14:m>
                <a:endParaRPr lang="en-US" dirty="0"/>
              </a:p>
            </p:txBody>
          </p:sp>
        </mc:Choice>
        <mc:Fallback xmlns="">
          <p:sp>
            <p:nvSpPr>
              <p:cNvPr id="8" name="CuadroTexto 7">
                <a:extLst>
                  <a:ext uri="{FF2B5EF4-FFF2-40B4-BE49-F238E27FC236}">
                    <a16:creationId xmlns:a16="http://schemas.microsoft.com/office/drawing/2014/main" id="{B8741095-F0F3-2357-2597-AC54A8CEA82E}"/>
                  </a:ext>
                </a:extLst>
              </p:cNvPr>
              <p:cNvSpPr txBox="1">
                <a:spLocks noRot="1" noChangeAspect="1" noMove="1" noResize="1" noEditPoints="1" noAdjustHandles="1" noChangeArrowheads="1" noChangeShapeType="1" noTextEdit="1"/>
              </p:cNvSpPr>
              <p:nvPr/>
            </p:nvSpPr>
            <p:spPr>
              <a:xfrm>
                <a:off x="1172819" y="3881854"/>
                <a:ext cx="2261004" cy="52411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9512340-3550-8AF3-5E25-BE13DCFA151F}"/>
                  </a:ext>
                </a:extLst>
              </p:cNvPr>
              <p:cNvSpPr txBox="1"/>
              <p:nvPr/>
            </p:nvSpPr>
            <p:spPr>
              <a:xfrm>
                <a:off x="779463" y="5943595"/>
                <a:ext cx="3288657" cy="527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n-US" i="1" smtClean="0">
                              <a:latin typeface="Cambria Math" panose="02040503050406030204" pitchFamily="18" charset="0"/>
                            </a:rPr>
                            <m:t>𝞼</m:t>
                          </m:r>
                        </m:e>
                        <m:sub>
                          <m:r>
                            <a:rPr lang="es-CO" b="0" i="1" smtClean="0">
                              <a:latin typeface="Cambria Math" panose="02040503050406030204" pitchFamily="18" charset="0"/>
                            </a:rPr>
                            <m:t>1</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b="0" i="1" smtClean="0">
                              <a:latin typeface="Cambria Math" panose="02040503050406030204" pitchFamily="18" charset="0"/>
                            </a:rPr>
                            <m:t>(0−5−6−1−1)</m:t>
                          </m:r>
                          <m:r>
                            <a:rPr lang="es-CO" i="1">
                              <a:latin typeface="Cambria Math" panose="02040503050406030204" pitchFamily="18" charset="0"/>
                            </a:rPr>
                            <m:t>−</m:t>
                          </m:r>
                          <m:r>
                            <a:rPr lang="es-CO" i="1" smtClean="0">
                              <a:latin typeface="Cambria Math" panose="02040503050406030204" pitchFamily="18" charset="0"/>
                            </a:rPr>
                            <m:t>(</m:t>
                          </m:r>
                          <m:r>
                            <a:rPr lang="es-CO" b="0" i="1" smtClean="0">
                              <a:latin typeface="Cambria Math" panose="02040503050406030204" pitchFamily="18" charset="0"/>
                            </a:rPr>
                            <m:t>−3)</m:t>
                          </m:r>
                        </m:num>
                        <m:den>
                          <m:r>
                            <a:rPr lang="es-CO" b="0" i="1" smtClean="0">
                              <a:latin typeface="Cambria Math" panose="02040503050406030204" pitchFamily="18" charset="0"/>
                            </a:rPr>
                            <m:t>5−1</m:t>
                          </m:r>
                        </m:den>
                      </m:f>
                    </m:oMath>
                  </m:oMathPara>
                </a14:m>
                <a:endParaRPr lang="en-US"/>
              </a:p>
            </p:txBody>
          </p:sp>
        </mc:Choice>
        <mc:Fallback xmlns="">
          <p:sp>
            <p:nvSpPr>
              <p:cNvPr id="11" name="CuadroTexto 10">
                <a:extLst>
                  <a:ext uri="{FF2B5EF4-FFF2-40B4-BE49-F238E27FC236}">
                    <a16:creationId xmlns:a16="http://schemas.microsoft.com/office/drawing/2014/main" id="{09512340-3550-8AF3-5E25-BE13DCFA151F}"/>
                  </a:ext>
                </a:extLst>
              </p:cNvPr>
              <p:cNvSpPr txBox="1">
                <a:spLocks noRot="1" noChangeAspect="1" noMove="1" noResize="1" noEditPoints="1" noAdjustHandles="1" noChangeArrowheads="1" noChangeShapeType="1" noTextEdit="1"/>
              </p:cNvSpPr>
              <p:nvPr/>
            </p:nvSpPr>
            <p:spPr>
              <a:xfrm>
                <a:off x="779463" y="5943595"/>
                <a:ext cx="3288657" cy="527645"/>
              </a:xfrm>
              <a:prstGeom prst="rect">
                <a:avLst/>
              </a:prstGeom>
              <a:blipFill>
                <a:blip r:embed="rId6"/>
                <a:stretch>
                  <a:fillRect/>
                </a:stretch>
              </a:blipFill>
            </p:spPr>
            <p:txBody>
              <a:bodyPr/>
              <a:lstStyle/>
              <a:p>
                <a:r>
                  <a:rPr lang="en-US">
                    <a:noFill/>
                  </a:rPr>
                  <a:t> </a:t>
                </a:r>
              </a:p>
            </p:txBody>
          </p:sp>
        </mc:Fallback>
      </mc:AlternateContent>
      <p:cxnSp>
        <p:nvCxnSpPr>
          <p:cNvPr id="28" name="Conector recto 27">
            <a:extLst>
              <a:ext uri="{FF2B5EF4-FFF2-40B4-BE49-F238E27FC236}">
                <a16:creationId xmlns:a16="http://schemas.microsoft.com/office/drawing/2014/main" id="{0B9A675E-5A65-6340-DA3B-BB33091390CC}"/>
              </a:ext>
            </a:extLst>
          </p:cNvPr>
          <p:cNvCxnSpPr>
            <a:cxnSpLocks/>
          </p:cNvCxnSpPr>
          <p:nvPr/>
        </p:nvCxnSpPr>
        <p:spPr>
          <a:xfrm flipH="1">
            <a:off x="5691673" y="2623475"/>
            <a:ext cx="3273886" cy="311174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9CCC79A7-EAFA-6427-0A50-05BD1368815F}"/>
              </a:ext>
            </a:extLst>
          </p:cNvPr>
          <p:cNvCxnSpPr>
            <a:cxnSpLocks/>
          </p:cNvCxnSpPr>
          <p:nvPr/>
        </p:nvCxnSpPr>
        <p:spPr>
          <a:xfrm>
            <a:off x="5592147" y="2195228"/>
            <a:ext cx="3373412" cy="32804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055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6AAAE-9506-607D-7A81-24853FD10F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FDA43B-74CC-4747-702B-1F33BD73D862}"/>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7) LGR</a:t>
            </a:r>
          </a:p>
        </p:txBody>
      </p:sp>
      <p:sp>
        <p:nvSpPr>
          <p:cNvPr id="10" name="1 Título">
            <a:extLst>
              <a:ext uri="{FF2B5EF4-FFF2-40B4-BE49-F238E27FC236}">
                <a16:creationId xmlns:a16="http://schemas.microsoft.com/office/drawing/2014/main" id="{ED2E0647-BB85-680C-8E5F-BBEF9BF2DB3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11</a:t>
            </a:r>
          </a:p>
        </p:txBody>
      </p:sp>
      <p:pic>
        <p:nvPicPr>
          <p:cNvPr id="14" name="Picture 4" descr="Programas - Intranet ETITC">
            <a:extLst>
              <a:ext uri="{FF2B5EF4-FFF2-40B4-BE49-F238E27FC236}">
                <a16:creationId xmlns:a16="http://schemas.microsoft.com/office/drawing/2014/main" id="{43CDF039-38AB-FD8B-4F35-3E5F5F331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9BDD7FE-7897-719F-00CB-918BFAB8A41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920F4423-0D07-EC9C-27C1-AF7609606B47}"/>
              </a:ext>
            </a:extLst>
          </p:cNvPr>
          <p:cNvSpPr txBox="1">
            <a:spLocks/>
          </p:cNvSpPr>
          <p:nvPr/>
        </p:nvSpPr>
        <p:spPr>
          <a:xfrm>
            <a:off x="451283" y="2103756"/>
            <a:ext cx="3632922" cy="256197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a:t>El lugar geométrico en el eje real</a:t>
            </a:r>
          </a:p>
          <a:p>
            <a:pPr algn="l"/>
            <a:endParaRPr lang="es-ES" sz="1600"/>
          </a:p>
          <a:p>
            <a:pPr algn="l"/>
            <a:endParaRPr lang="es-ES" sz="1600"/>
          </a:p>
          <a:p>
            <a:pPr algn="l"/>
            <a:endParaRPr lang="es-ES" sz="1600"/>
          </a:p>
          <a:p>
            <a:endParaRPr lang="es-ES" sz="1600"/>
          </a:p>
          <a:p>
            <a:pPr algn="l"/>
            <a:endParaRPr lang="es-ES" sz="1600"/>
          </a:p>
          <a:p>
            <a:pPr algn="l"/>
            <a:endParaRPr lang="es-ES" sz="1600"/>
          </a:p>
          <a:p>
            <a:pPr algn="l"/>
            <a:endParaRPr lang="es-ES" sz="1600"/>
          </a:p>
          <a:p>
            <a:pPr algn="l"/>
            <a:endParaRPr lang="es-ES" sz="1600"/>
          </a:p>
          <a:p>
            <a:br>
              <a:rPr lang="es-ES" sz="1600"/>
            </a:br>
            <a:endParaRPr lang="es-CO" sz="160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4B1E0BE-58B0-32B7-865C-32A817AE6B19}"/>
                  </a:ext>
                </a:extLst>
              </p:cNvPr>
              <p:cNvSpPr txBox="1"/>
              <p:nvPr/>
            </p:nvSpPr>
            <p:spPr>
              <a:xfrm>
                <a:off x="5034059" y="1297232"/>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1+</m:t>
                      </m:r>
                      <m:f>
                        <m:fPr>
                          <m:ctrlPr>
                            <a:rPr lang="es-CO" b="0" i="1" smtClean="0">
                              <a:solidFill>
                                <a:schemeClr val="tx1"/>
                              </a:solidFill>
                              <a:latin typeface="Cambria Math" panose="02040503050406030204" pitchFamily="18" charset="0"/>
                            </a:rPr>
                          </m:ctrlPr>
                        </m:fPr>
                        <m:num>
                          <m:r>
                            <a:rPr lang="es-CO" b="0" i="1" smtClean="0">
                              <a:solidFill>
                                <a:schemeClr val="tx1"/>
                              </a:solidFill>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+5)(</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+6)(</m:t>
                          </m:r>
                          <m:sSup>
                            <m:sSupPr>
                              <m:ctrlPr>
                                <a:rPr lang="es-CO" b="0" i="1" smtClean="0">
                                  <a:solidFill>
                                    <a:schemeClr val="tx1"/>
                                  </a:solidFill>
                                  <a:latin typeface="Cambria Math" panose="02040503050406030204" pitchFamily="18" charset="0"/>
                                </a:rPr>
                              </m:ctrlPr>
                            </m:sSupPr>
                            <m:e>
                              <m:r>
                                <a:rPr lang="es-CO" b="0" i="1" smtClean="0">
                                  <a:solidFill>
                                    <a:schemeClr val="tx1"/>
                                  </a:solidFill>
                                  <a:latin typeface="Cambria Math" panose="02040503050406030204" pitchFamily="18" charset="0"/>
                                </a:rPr>
                                <m:t>𝑠</m:t>
                              </m:r>
                            </m:e>
                            <m:sup>
                              <m:r>
                                <a:rPr lang="es-CO" b="0" i="1" smtClean="0">
                                  <a:solidFill>
                                    <a:schemeClr val="tx1"/>
                                  </a:solidFill>
                                  <a:latin typeface="Cambria Math" panose="02040503050406030204" pitchFamily="18" charset="0"/>
                                </a:rPr>
                                <m:t>2</m:t>
                              </m:r>
                            </m:sup>
                          </m:sSup>
                          <m:r>
                            <a:rPr lang="es-CO" b="0" i="1" smtClean="0">
                              <a:solidFill>
                                <a:schemeClr val="tx1"/>
                              </a:solidFill>
                              <a:latin typeface="Cambria Math" panose="02040503050406030204" pitchFamily="18" charset="0"/>
                            </a:rPr>
                            <m:t>+2</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+2)</m:t>
                          </m:r>
                        </m:den>
                      </m:f>
                    </m:oMath>
                  </m:oMathPara>
                </a14:m>
                <a:endParaRPr lang="en-US"/>
              </a:p>
            </p:txBody>
          </p:sp>
        </mc:Choice>
        <mc:Fallback xmlns="">
          <p:sp>
            <p:nvSpPr>
              <p:cNvPr id="7" name="CuadroTexto 6">
                <a:extLst>
                  <a:ext uri="{FF2B5EF4-FFF2-40B4-BE49-F238E27FC236}">
                    <a16:creationId xmlns:a16="http://schemas.microsoft.com/office/drawing/2014/main" id="{44B1E0BE-58B0-32B7-865C-32A817AE6B19}"/>
                  </a:ext>
                </a:extLst>
              </p:cNvPr>
              <p:cNvSpPr txBox="1">
                <a:spLocks noRot="1" noChangeAspect="1" noMove="1" noResize="1" noEditPoints="1" noAdjustHandles="1" noChangeArrowheads="1" noChangeShapeType="1" noTextEdit="1"/>
              </p:cNvSpPr>
              <p:nvPr/>
            </p:nvSpPr>
            <p:spPr>
              <a:xfrm>
                <a:off x="5034059" y="1297232"/>
                <a:ext cx="3324052" cy="586699"/>
              </a:xfrm>
              <a:prstGeom prst="rect">
                <a:avLst/>
              </a:prstGeom>
              <a:blipFill>
                <a:blip r:embed="rId3"/>
                <a:stretch>
                  <a:fillRect/>
                </a:stretch>
              </a:blipFill>
            </p:spPr>
            <p:txBody>
              <a:bodyPr/>
              <a:lstStyle/>
              <a:p>
                <a:r>
                  <a:rPr lang="en-US">
                    <a:noFill/>
                  </a:rPr>
                  <a:t> </a:t>
                </a:r>
              </a:p>
            </p:txBody>
          </p:sp>
        </mc:Fallback>
      </mc:AlternateContent>
      <p:pic>
        <p:nvPicPr>
          <p:cNvPr id="12" name="Imagen 11">
            <a:extLst>
              <a:ext uri="{FF2B5EF4-FFF2-40B4-BE49-F238E27FC236}">
                <a16:creationId xmlns:a16="http://schemas.microsoft.com/office/drawing/2014/main" id="{07B11E11-C065-D6D1-0446-1759AEBCEAD3}"/>
              </a:ext>
            </a:extLst>
          </p:cNvPr>
          <p:cNvPicPr>
            <a:picLocks noChangeAspect="1"/>
          </p:cNvPicPr>
          <p:nvPr/>
        </p:nvPicPr>
        <p:blipFill>
          <a:blip r:embed="rId4"/>
          <a:stretch>
            <a:fillRect/>
          </a:stretch>
        </p:blipFill>
        <p:spPr>
          <a:xfrm>
            <a:off x="1948913" y="2605327"/>
            <a:ext cx="4942906" cy="3847541"/>
          </a:xfrm>
          <a:prstGeom prst="rect">
            <a:avLst/>
          </a:prstGeom>
        </p:spPr>
      </p:pic>
    </p:spTree>
    <p:extLst>
      <p:ext uri="{BB962C8B-B14F-4D97-AF65-F5344CB8AC3E}">
        <p14:creationId xmlns:p14="http://schemas.microsoft.com/office/powerpoint/2010/main" val="695529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8E06C-D215-06E8-400D-47F83EB158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5D68AF-CDE8-EE38-849E-1B37A4339A09}"/>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8) LGR</a:t>
            </a:r>
          </a:p>
        </p:txBody>
      </p:sp>
      <p:sp>
        <p:nvSpPr>
          <p:cNvPr id="10" name="1 Título">
            <a:extLst>
              <a:ext uri="{FF2B5EF4-FFF2-40B4-BE49-F238E27FC236}">
                <a16:creationId xmlns:a16="http://schemas.microsoft.com/office/drawing/2014/main" id="{2046548F-330C-D290-E35E-3301DCA7579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12</a:t>
            </a:r>
          </a:p>
        </p:txBody>
      </p:sp>
      <p:pic>
        <p:nvPicPr>
          <p:cNvPr id="14" name="Picture 4" descr="Programas - Intranet ETITC">
            <a:extLst>
              <a:ext uri="{FF2B5EF4-FFF2-40B4-BE49-F238E27FC236}">
                <a16:creationId xmlns:a16="http://schemas.microsoft.com/office/drawing/2014/main" id="{40F2CEFF-B947-56F2-8F30-7C13075A8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C83C928-AC05-668C-D714-285EA6F5631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9F0D073D-9257-2901-BEE4-5B4AC88B31F9}"/>
              </a:ext>
            </a:extLst>
          </p:cNvPr>
          <p:cNvSpPr txBox="1">
            <a:spLocks/>
          </p:cNvSpPr>
          <p:nvPr/>
        </p:nvSpPr>
        <p:spPr>
          <a:xfrm>
            <a:off x="451283" y="2103756"/>
            <a:ext cx="3632922" cy="2561978"/>
          </a:xfrm>
          <a:prstGeom prst="rect">
            <a:avLst/>
          </a:prstGeom>
        </p:spPr>
        <p:txBody>
          <a:bodyPr vert="horz" lIns="91440" tIns="45720" rIns="91440" bIns="45720" rtlCol="0" anchor="b">
            <a:normAutofit fontScale="92500"/>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dirty="0"/>
              <a:t>Encontrar K donde el sistema es estable y la</a:t>
            </a:r>
          </a:p>
          <a:p>
            <a:pPr algn="l"/>
            <a:r>
              <a:rPr lang="es-ES" sz="1600" dirty="0"/>
              <a:t>Intersección eje </a:t>
            </a:r>
            <a:r>
              <a:rPr lang="es-ES" sz="1600" dirty="0" err="1"/>
              <a:t>Im</a:t>
            </a:r>
            <a:r>
              <a:rPr lang="es-ES" sz="1600" dirty="0"/>
              <a:t> mediante RH</a:t>
            </a:r>
          </a:p>
          <a:p>
            <a:pPr algn="l"/>
            <a:endParaRPr lang="es-ES" sz="1600" dirty="0"/>
          </a:p>
          <a:p>
            <a:pPr algn="l"/>
            <a:endParaRPr lang="es-ES" sz="1600" dirty="0"/>
          </a:p>
          <a:p>
            <a:pPr algn="l"/>
            <a:endParaRPr lang="es-ES" sz="1600" dirty="0"/>
          </a:p>
          <a:p>
            <a:endParaRPr lang="es-ES" sz="1600" dirty="0"/>
          </a:p>
          <a:p>
            <a:pPr algn="l"/>
            <a:endParaRPr lang="es-ES" sz="1600" dirty="0"/>
          </a:p>
          <a:p>
            <a:pPr algn="l"/>
            <a:endParaRPr lang="es-ES" sz="1600" dirty="0"/>
          </a:p>
          <a:p>
            <a:pPr algn="l"/>
            <a:endParaRPr lang="es-ES" sz="1600" dirty="0"/>
          </a:p>
          <a:p>
            <a:pPr algn="l"/>
            <a:endParaRPr lang="es-ES" sz="1600" dirty="0"/>
          </a:p>
          <a:p>
            <a:br>
              <a:rPr lang="es-ES" sz="1600" dirty="0"/>
            </a:br>
            <a:endParaRPr lang="es-CO" sz="160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3E4AF19-E103-631F-2A0E-037DE42EACD6}"/>
                  </a:ext>
                </a:extLst>
              </p:cNvPr>
              <p:cNvSpPr txBox="1"/>
              <p:nvPr/>
            </p:nvSpPr>
            <p:spPr>
              <a:xfrm>
                <a:off x="5034059" y="1297232"/>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1+</m:t>
                      </m:r>
                      <m:f>
                        <m:fPr>
                          <m:ctrlPr>
                            <a:rPr lang="es-CO" b="0" i="1" smtClean="0">
                              <a:solidFill>
                                <a:schemeClr val="tx1"/>
                              </a:solidFill>
                              <a:latin typeface="Cambria Math" panose="02040503050406030204" pitchFamily="18" charset="0"/>
                            </a:rPr>
                          </m:ctrlPr>
                        </m:fPr>
                        <m:num>
                          <m:r>
                            <a:rPr lang="es-CO" b="0" i="1" smtClean="0">
                              <a:solidFill>
                                <a:schemeClr val="tx1"/>
                              </a:solidFill>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+5)(</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+6)(</m:t>
                          </m:r>
                          <m:sSup>
                            <m:sSupPr>
                              <m:ctrlPr>
                                <a:rPr lang="es-CO" b="0" i="1" smtClean="0">
                                  <a:solidFill>
                                    <a:schemeClr val="tx1"/>
                                  </a:solidFill>
                                  <a:latin typeface="Cambria Math" panose="02040503050406030204" pitchFamily="18" charset="0"/>
                                </a:rPr>
                              </m:ctrlPr>
                            </m:sSupPr>
                            <m:e>
                              <m:r>
                                <a:rPr lang="es-CO" b="0" i="1" smtClean="0">
                                  <a:solidFill>
                                    <a:schemeClr val="tx1"/>
                                  </a:solidFill>
                                  <a:latin typeface="Cambria Math" panose="02040503050406030204" pitchFamily="18" charset="0"/>
                                </a:rPr>
                                <m:t>𝑠</m:t>
                              </m:r>
                            </m:e>
                            <m:sup>
                              <m:r>
                                <a:rPr lang="es-CO" b="0" i="1" smtClean="0">
                                  <a:solidFill>
                                    <a:schemeClr val="tx1"/>
                                  </a:solidFill>
                                  <a:latin typeface="Cambria Math" panose="02040503050406030204" pitchFamily="18" charset="0"/>
                                </a:rPr>
                                <m:t>2</m:t>
                              </m:r>
                            </m:sup>
                          </m:sSup>
                          <m:r>
                            <a:rPr lang="es-CO" b="0" i="1" smtClean="0">
                              <a:solidFill>
                                <a:schemeClr val="tx1"/>
                              </a:solidFill>
                              <a:latin typeface="Cambria Math" panose="02040503050406030204" pitchFamily="18" charset="0"/>
                            </a:rPr>
                            <m:t>+2</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+2)</m:t>
                          </m:r>
                        </m:den>
                      </m:f>
                    </m:oMath>
                  </m:oMathPara>
                </a14:m>
                <a:endParaRPr lang="en-US"/>
              </a:p>
            </p:txBody>
          </p:sp>
        </mc:Choice>
        <mc:Fallback xmlns="">
          <p:sp>
            <p:nvSpPr>
              <p:cNvPr id="7" name="CuadroTexto 6">
                <a:extLst>
                  <a:ext uri="{FF2B5EF4-FFF2-40B4-BE49-F238E27FC236}">
                    <a16:creationId xmlns:a16="http://schemas.microsoft.com/office/drawing/2014/main" id="{D3E4AF19-E103-631F-2A0E-037DE42EACD6}"/>
                  </a:ext>
                </a:extLst>
              </p:cNvPr>
              <p:cNvSpPr txBox="1">
                <a:spLocks noRot="1" noChangeAspect="1" noMove="1" noResize="1" noEditPoints="1" noAdjustHandles="1" noChangeArrowheads="1" noChangeShapeType="1" noTextEdit="1"/>
              </p:cNvSpPr>
              <p:nvPr/>
            </p:nvSpPr>
            <p:spPr>
              <a:xfrm>
                <a:off x="5034059" y="1297232"/>
                <a:ext cx="3324052" cy="5866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a 5">
                <a:extLst>
                  <a:ext uri="{FF2B5EF4-FFF2-40B4-BE49-F238E27FC236}">
                    <a16:creationId xmlns:a16="http://schemas.microsoft.com/office/drawing/2014/main" id="{1536AA83-E38E-A2DC-C706-1B4B77CADDFE}"/>
                  </a:ext>
                </a:extLst>
              </p:cNvPr>
              <p:cNvGraphicFramePr>
                <a:graphicFrameLocks noGrp="1"/>
              </p:cNvGraphicFramePr>
              <p:nvPr>
                <p:extLst>
                  <p:ext uri="{D42A27DB-BD31-4B8C-83A1-F6EECF244321}">
                    <p14:modId xmlns:p14="http://schemas.microsoft.com/office/powerpoint/2010/main" val="2844091983"/>
                  </p:ext>
                </p:extLst>
              </p:nvPr>
            </p:nvGraphicFramePr>
            <p:xfrm>
              <a:off x="451283" y="2799553"/>
              <a:ext cx="8093410" cy="3212645"/>
            </p:xfrm>
            <a:graphic>
              <a:graphicData uri="http://schemas.openxmlformats.org/drawingml/2006/table">
                <a:tbl>
                  <a:tblPr firstRow="1" bandRow="1">
                    <a:tableStyleId>{5940675A-B579-460E-94D1-54222C63F5DA}</a:tableStyleId>
                  </a:tblPr>
                  <a:tblGrid>
                    <a:gridCol w="1618682">
                      <a:extLst>
                        <a:ext uri="{9D8B030D-6E8A-4147-A177-3AD203B41FA5}">
                          <a16:colId xmlns:a16="http://schemas.microsoft.com/office/drawing/2014/main" val="2109676644"/>
                        </a:ext>
                      </a:extLst>
                    </a:gridCol>
                    <a:gridCol w="1618682">
                      <a:extLst>
                        <a:ext uri="{9D8B030D-6E8A-4147-A177-3AD203B41FA5}">
                          <a16:colId xmlns:a16="http://schemas.microsoft.com/office/drawing/2014/main" val="2909470796"/>
                        </a:ext>
                      </a:extLst>
                    </a:gridCol>
                    <a:gridCol w="1618682">
                      <a:extLst>
                        <a:ext uri="{9D8B030D-6E8A-4147-A177-3AD203B41FA5}">
                          <a16:colId xmlns:a16="http://schemas.microsoft.com/office/drawing/2014/main" val="3462392466"/>
                        </a:ext>
                      </a:extLst>
                    </a:gridCol>
                    <a:gridCol w="1618682">
                      <a:extLst>
                        <a:ext uri="{9D8B030D-6E8A-4147-A177-3AD203B41FA5}">
                          <a16:colId xmlns:a16="http://schemas.microsoft.com/office/drawing/2014/main" val="4088672469"/>
                        </a:ext>
                      </a:extLst>
                    </a:gridCol>
                    <a:gridCol w="1618682">
                      <a:extLst>
                        <a:ext uri="{9D8B030D-6E8A-4147-A177-3AD203B41FA5}">
                          <a16:colId xmlns:a16="http://schemas.microsoft.com/office/drawing/2014/main" val="2695385249"/>
                        </a:ext>
                      </a:extLst>
                    </a:gridCol>
                  </a:tblGrid>
                  <a:tr h="370839">
                    <a:tc>
                      <a:txBody>
                        <a:bodyPr/>
                        <a:lstStyle/>
                        <a:p>
                          <a:r>
                            <a:rPr lang="en-US"/>
                            <a:t>S^5</a:t>
                          </a:r>
                        </a:p>
                      </a:txBody>
                      <a:tcPr>
                        <a:solidFill>
                          <a:schemeClr val="bg1">
                            <a:lumMod val="85000"/>
                          </a:schemeClr>
                        </a:solidFill>
                      </a:tcPr>
                    </a:tc>
                    <a:tc>
                      <a:txBody>
                        <a:bodyPr/>
                        <a:lstStyle/>
                        <a:p>
                          <a:r>
                            <a:rPr lang="es-ES"/>
                            <a:t>1</a:t>
                          </a:r>
                          <a:endParaRPr lang="en-US"/>
                        </a:p>
                      </a:txBody>
                      <a:tcPr>
                        <a:solidFill>
                          <a:schemeClr val="bg1">
                            <a:lumMod val="85000"/>
                          </a:schemeClr>
                        </a:solidFill>
                      </a:tcPr>
                    </a:tc>
                    <a:tc>
                      <a:txBody>
                        <a:bodyPr/>
                        <a:lstStyle/>
                        <a:p>
                          <a:r>
                            <a:rPr lang="es-ES"/>
                            <a:t>54</a:t>
                          </a:r>
                          <a:endParaRPr lang="en-US"/>
                        </a:p>
                      </a:txBody>
                      <a:tcPr/>
                    </a:tc>
                    <a:tc>
                      <a:txBody>
                        <a:bodyPr/>
                        <a:lstStyle/>
                        <a:p>
                          <a:r>
                            <a:rPr lang="es-ES"/>
                            <a:t>60+k</a:t>
                          </a:r>
                          <a:endParaRPr lang="en-US"/>
                        </a:p>
                      </a:txBody>
                      <a:tcPr/>
                    </a:tc>
                    <a:tc>
                      <a:txBody>
                        <a:bodyPr/>
                        <a:lstStyle/>
                        <a:p>
                          <a:r>
                            <a:rPr lang="es-ES"/>
                            <a:t>a0</a:t>
                          </a:r>
                          <a:endParaRPr lang="en-US"/>
                        </a:p>
                      </a:txBody>
                      <a:tcPr/>
                    </a:tc>
                    <a:extLst>
                      <a:ext uri="{0D108BD9-81ED-4DB2-BD59-A6C34878D82A}">
                        <a16:rowId xmlns:a16="http://schemas.microsoft.com/office/drawing/2014/main" val="13553147"/>
                      </a:ext>
                    </a:extLst>
                  </a:tr>
                  <a:tr h="459287">
                    <a:tc>
                      <a:txBody>
                        <a:bodyPr/>
                        <a:lstStyle/>
                        <a:p>
                          <a:r>
                            <a:rPr lang="en-US"/>
                            <a:t>S^4</a:t>
                          </a:r>
                        </a:p>
                      </a:txBody>
                      <a:tcPr>
                        <a:solidFill>
                          <a:schemeClr val="bg1">
                            <a:lumMod val="85000"/>
                          </a:schemeClr>
                        </a:solidFill>
                      </a:tcPr>
                    </a:tc>
                    <a:tc>
                      <a:txBody>
                        <a:bodyPr/>
                        <a:lstStyle/>
                        <a:p>
                          <a:r>
                            <a:rPr lang="es-ES"/>
                            <a:t>13</a:t>
                          </a:r>
                          <a:endParaRPr lang="en-US"/>
                        </a:p>
                      </a:txBody>
                      <a:tcPr>
                        <a:solidFill>
                          <a:schemeClr val="bg1">
                            <a:lumMod val="85000"/>
                          </a:schemeClr>
                        </a:solidFill>
                      </a:tcPr>
                    </a:tc>
                    <a:tc>
                      <a:txBody>
                        <a:bodyPr/>
                        <a:lstStyle/>
                        <a:p>
                          <a:r>
                            <a:rPr lang="es-ES"/>
                            <a:t>82</a:t>
                          </a:r>
                          <a:endParaRPr lang="en-US"/>
                        </a:p>
                      </a:txBody>
                      <a:tcPr/>
                    </a:tc>
                    <a:tc>
                      <a:txBody>
                        <a:bodyPr/>
                        <a:lstStyle/>
                        <a:p>
                          <a:r>
                            <a:rPr lang="es-ES"/>
                            <a:t>3k</a:t>
                          </a:r>
                          <a:endParaRPr lang="en-US"/>
                        </a:p>
                      </a:txBody>
                      <a:tcPr/>
                    </a:tc>
                    <a:tc>
                      <a:txBody>
                        <a:bodyPr/>
                        <a:lstStyle/>
                        <a:p>
                          <a:r>
                            <a:rPr lang="es-ES"/>
                            <a:t>0</a:t>
                          </a:r>
                          <a:endParaRPr lang="en-US"/>
                        </a:p>
                      </a:txBody>
                      <a:tcPr/>
                    </a:tc>
                    <a:extLst>
                      <a:ext uri="{0D108BD9-81ED-4DB2-BD59-A6C34878D82A}">
                        <a16:rowId xmlns:a16="http://schemas.microsoft.com/office/drawing/2014/main" val="1573408914"/>
                      </a:ext>
                    </a:extLst>
                  </a:tr>
                  <a:tr h="370839">
                    <a:tc>
                      <a:txBody>
                        <a:bodyPr/>
                        <a:lstStyle/>
                        <a:p>
                          <a:r>
                            <a:rPr lang="en-US"/>
                            <a:t>S^3</a:t>
                          </a:r>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30483105"/>
                      </a:ext>
                    </a:extLst>
                  </a:tr>
                  <a:tr h="370839">
                    <a:tc>
                      <a:txBody>
                        <a:bodyPr/>
                        <a:lstStyle/>
                        <a:p>
                          <a:r>
                            <a:rPr lang="en-US"/>
                            <a:t>S^2</a:t>
                          </a:r>
                        </a:p>
                      </a:txBody>
                      <a:tcPr>
                        <a:solidFill>
                          <a:schemeClr val="bg1">
                            <a:lumMod val="85000"/>
                          </a:schemeClr>
                        </a:solidFill>
                      </a:tcPr>
                    </a:tc>
                    <a:tc>
                      <a:txBody>
                        <a:bodyPr/>
                        <a:lstStyle/>
                        <a:p>
                          <a:endParaRPr lang="en-US">
                            <a:highlight>
                              <a:srgbClr val="FFFF00"/>
                            </a:highlight>
                          </a:endParaRPr>
                        </a:p>
                      </a:txBody>
                      <a:tcPr>
                        <a:solidFill>
                          <a:schemeClr val="accent2"/>
                        </a:solidFill>
                      </a:tcPr>
                    </a:tc>
                    <a:tc>
                      <a:txBody>
                        <a:bodyPr/>
                        <a:lstStyle/>
                        <a:p>
                          <a:endParaRPr lang="en-US">
                            <a:highlight>
                              <a:srgbClr val="FFFF00"/>
                            </a:highlight>
                          </a:endParaRPr>
                        </a:p>
                      </a:txBody>
                      <a:tcPr>
                        <a:solidFill>
                          <a:schemeClr val="accent2"/>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extLst>
                      <a:ext uri="{0D108BD9-81ED-4DB2-BD59-A6C34878D82A}">
                        <a16:rowId xmlns:a16="http://schemas.microsoft.com/office/drawing/2014/main" val="3862822257"/>
                      </a:ext>
                    </a:extLst>
                  </a:tr>
                  <a:tr h="370839">
                    <a:tc>
                      <a:txBody>
                        <a:bodyPr/>
                        <a:lstStyle/>
                        <a:p>
                          <a:r>
                            <a:rPr lang="en-US"/>
                            <a:t>S^1</a:t>
                          </a:r>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solidFill>
                          <a:schemeClr val="bg1">
                            <a:lumMod val="85000"/>
                          </a:schemeClr>
                        </a:solidFill>
                      </a:tcPr>
                    </a:tc>
                    <a:tc>
                      <a:txBody>
                        <a:bodyPr/>
                        <a:lstStyle/>
                        <a:p>
                          <a:r>
                            <a:rPr lang="en-US"/>
                            <a:t>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extLst>
                      <a:ext uri="{0D108BD9-81ED-4DB2-BD59-A6C34878D82A}">
                        <a16:rowId xmlns:a16="http://schemas.microsoft.com/office/drawing/2014/main" val="3749945961"/>
                      </a:ext>
                    </a:extLst>
                  </a:tr>
                  <a:tr h="370839">
                    <a:tc>
                      <a:txBody>
                        <a:bodyPr/>
                        <a:lstStyle/>
                        <a:p>
                          <a:r>
                            <a:rPr lang="en-US"/>
                            <a:t>S^0</a:t>
                          </a:r>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2460114984"/>
                      </a:ext>
                    </a:extLst>
                  </a:tr>
                  <a:tr h="370839">
                    <a:tc>
                      <a:txBody>
                        <a:bodyPr/>
                        <a:lstStyle/>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4058995034"/>
                      </a:ext>
                    </a:extLst>
                  </a:tr>
                </a:tbl>
              </a:graphicData>
            </a:graphic>
          </p:graphicFrame>
        </mc:Choice>
        <mc:Fallback xmlns="">
          <p:graphicFrame>
            <p:nvGraphicFramePr>
              <p:cNvPr id="3" name="Tabla 5">
                <a:extLst>
                  <a:ext uri="{FF2B5EF4-FFF2-40B4-BE49-F238E27FC236}">
                    <a16:creationId xmlns:a16="http://schemas.microsoft.com/office/drawing/2014/main" id="{1536AA83-E38E-A2DC-C706-1B4B77CADDFE}"/>
                  </a:ext>
                </a:extLst>
              </p:cNvPr>
              <p:cNvGraphicFramePr>
                <a:graphicFrameLocks noGrp="1"/>
              </p:cNvGraphicFramePr>
              <p:nvPr>
                <p:extLst>
                  <p:ext uri="{D42A27DB-BD31-4B8C-83A1-F6EECF244321}">
                    <p14:modId xmlns:p14="http://schemas.microsoft.com/office/powerpoint/2010/main" val="2844091983"/>
                  </p:ext>
                </p:extLst>
              </p:nvPr>
            </p:nvGraphicFramePr>
            <p:xfrm>
              <a:off x="451283" y="2799553"/>
              <a:ext cx="8093410" cy="3212645"/>
            </p:xfrm>
            <a:graphic>
              <a:graphicData uri="http://schemas.openxmlformats.org/drawingml/2006/table">
                <a:tbl>
                  <a:tblPr firstRow="1" bandRow="1">
                    <a:tableStyleId>{5940675A-B579-460E-94D1-54222C63F5DA}</a:tableStyleId>
                  </a:tblPr>
                  <a:tblGrid>
                    <a:gridCol w="1618682">
                      <a:extLst>
                        <a:ext uri="{9D8B030D-6E8A-4147-A177-3AD203B41FA5}">
                          <a16:colId xmlns:a16="http://schemas.microsoft.com/office/drawing/2014/main" val="2109676644"/>
                        </a:ext>
                      </a:extLst>
                    </a:gridCol>
                    <a:gridCol w="1618682">
                      <a:extLst>
                        <a:ext uri="{9D8B030D-6E8A-4147-A177-3AD203B41FA5}">
                          <a16:colId xmlns:a16="http://schemas.microsoft.com/office/drawing/2014/main" val="2909470796"/>
                        </a:ext>
                      </a:extLst>
                    </a:gridCol>
                    <a:gridCol w="1618682">
                      <a:extLst>
                        <a:ext uri="{9D8B030D-6E8A-4147-A177-3AD203B41FA5}">
                          <a16:colId xmlns:a16="http://schemas.microsoft.com/office/drawing/2014/main" val="3462392466"/>
                        </a:ext>
                      </a:extLst>
                    </a:gridCol>
                    <a:gridCol w="1618682">
                      <a:extLst>
                        <a:ext uri="{9D8B030D-6E8A-4147-A177-3AD203B41FA5}">
                          <a16:colId xmlns:a16="http://schemas.microsoft.com/office/drawing/2014/main" val="4088672469"/>
                        </a:ext>
                      </a:extLst>
                    </a:gridCol>
                    <a:gridCol w="1618682">
                      <a:extLst>
                        <a:ext uri="{9D8B030D-6E8A-4147-A177-3AD203B41FA5}">
                          <a16:colId xmlns:a16="http://schemas.microsoft.com/office/drawing/2014/main" val="2695385249"/>
                        </a:ext>
                      </a:extLst>
                    </a:gridCol>
                  </a:tblGrid>
                  <a:tr h="370839">
                    <a:tc>
                      <a:txBody>
                        <a:bodyPr/>
                        <a:lstStyle/>
                        <a:p>
                          <a:r>
                            <a:rPr lang="en-US"/>
                            <a:t>S^5</a:t>
                          </a:r>
                        </a:p>
                      </a:txBody>
                      <a:tcPr>
                        <a:solidFill>
                          <a:schemeClr val="bg1">
                            <a:lumMod val="85000"/>
                          </a:schemeClr>
                        </a:solidFill>
                      </a:tcPr>
                    </a:tc>
                    <a:tc>
                      <a:txBody>
                        <a:bodyPr/>
                        <a:lstStyle/>
                        <a:p>
                          <a:r>
                            <a:rPr lang="es-ES"/>
                            <a:t>1</a:t>
                          </a:r>
                          <a:endParaRPr lang="en-US"/>
                        </a:p>
                      </a:txBody>
                      <a:tcPr>
                        <a:solidFill>
                          <a:schemeClr val="bg1">
                            <a:lumMod val="85000"/>
                          </a:schemeClr>
                        </a:solidFill>
                      </a:tcPr>
                    </a:tc>
                    <a:tc>
                      <a:txBody>
                        <a:bodyPr/>
                        <a:lstStyle/>
                        <a:p>
                          <a:r>
                            <a:rPr lang="es-ES"/>
                            <a:t>54</a:t>
                          </a:r>
                          <a:endParaRPr lang="en-US"/>
                        </a:p>
                      </a:txBody>
                      <a:tcPr/>
                    </a:tc>
                    <a:tc>
                      <a:txBody>
                        <a:bodyPr/>
                        <a:lstStyle/>
                        <a:p>
                          <a:r>
                            <a:rPr lang="es-ES"/>
                            <a:t>60+k</a:t>
                          </a:r>
                          <a:endParaRPr lang="en-US"/>
                        </a:p>
                      </a:txBody>
                      <a:tcPr/>
                    </a:tc>
                    <a:tc>
                      <a:txBody>
                        <a:bodyPr/>
                        <a:lstStyle/>
                        <a:p>
                          <a:r>
                            <a:rPr lang="es-ES"/>
                            <a:t>a0</a:t>
                          </a:r>
                          <a:endParaRPr lang="en-US"/>
                        </a:p>
                      </a:txBody>
                      <a:tcPr/>
                    </a:tc>
                    <a:extLst>
                      <a:ext uri="{0D108BD9-81ED-4DB2-BD59-A6C34878D82A}">
                        <a16:rowId xmlns:a16="http://schemas.microsoft.com/office/drawing/2014/main" val="13553147"/>
                      </a:ext>
                    </a:extLst>
                  </a:tr>
                  <a:tr h="459287">
                    <a:tc>
                      <a:txBody>
                        <a:bodyPr/>
                        <a:lstStyle/>
                        <a:p>
                          <a:r>
                            <a:rPr lang="en-US"/>
                            <a:t>S^4</a:t>
                          </a:r>
                        </a:p>
                      </a:txBody>
                      <a:tcPr>
                        <a:solidFill>
                          <a:schemeClr val="bg1">
                            <a:lumMod val="85000"/>
                          </a:schemeClr>
                        </a:solidFill>
                      </a:tcPr>
                    </a:tc>
                    <a:tc>
                      <a:txBody>
                        <a:bodyPr/>
                        <a:lstStyle/>
                        <a:p>
                          <a:r>
                            <a:rPr lang="es-ES"/>
                            <a:t>13</a:t>
                          </a:r>
                          <a:endParaRPr lang="en-US"/>
                        </a:p>
                      </a:txBody>
                      <a:tcPr>
                        <a:solidFill>
                          <a:schemeClr val="bg1">
                            <a:lumMod val="85000"/>
                          </a:schemeClr>
                        </a:solidFill>
                      </a:tcPr>
                    </a:tc>
                    <a:tc>
                      <a:txBody>
                        <a:bodyPr/>
                        <a:lstStyle/>
                        <a:p>
                          <a:r>
                            <a:rPr lang="es-ES"/>
                            <a:t>82</a:t>
                          </a:r>
                          <a:endParaRPr lang="en-US"/>
                        </a:p>
                      </a:txBody>
                      <a:tcPr/>
                    </a:tc>
                    <a:tc>
                      <a:txBody>
                        <a:bodyPr/>
                        <a:lstStyle/>
                        <a:p>
                          <a:r>
                            <a:rPr lang="es-ES"/>
                            <a:t>3k</a:t>
                          </a:r>
                          <a:endParaRPr lang="en-US"/>
                        </a:p>
                      </a:txBody>
                      <a:tcPr/>
                    </a:tc>
                    <a:tc>
                      <a:txBody>
                        <a:bodyPr/>
                        <a:lstStyle/>
                        <a:p>
                          <a:r>
                            <a:rPr lang="es-ES"/>
                            <a:t>0</a:t>
                          </a:r>
                          <a:endParaRPr lang="en-US"/>
                        </a:p>
                      </a:txBody>
                      <a:tcPr/>
                    </a:tc>
                    <a:extLst>
                      <a:ext uri="{0D108BD9-81ED-4DB2-BD59-A6C34878D82A}">
                        <a16:rowId xmlns:a16="http://schemas.microsoft.com/office/drawing/2014/main" val="1573408914"/>
                      </a:ext>
                    </a:extLst>
                  </a:tr>
                  <a:tr h="370839">
                    <a:tc>
                      <a:txBody>
                        <a:bodyPr/>
                        <a:lstStyle/>
                        <a:p>
                          <a:r>
                            <a:rPr lang="en-US"/>
                            <a:t>S^3</a:t>
                          </a:r>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30483105"/>
                      </a:ext>
                    </a:extLst>
                  </a:tr>
                  <a:tr h="502920">
                    <a:tc>
                      <a:txBody>
                        <a:bodyPr/>
                        <a:lstStyle/>
                        <a:p>
                          <a:r>
                            <a:rPr lang="en-US"/>
                            <a:t>S^2</a:t>
                          </a:r>
                        </a:p>
                      </a:txBody>
                      <a:tcPr>
                        <a:solidFill>
                          <a:schemeClr val="bg1">
                            <a:lumMod val="85000"/>
                          </a:schemeClr>
                        </a:solidFill>
                      </a:tcPr>
                    </a:tc>
                    <a:tc>
                      <a:txBody>
                        <a:bodyPr/>
                        <a:lstStyle/>
                        <a:p>
                          <a:endParaRPr lang="en-US">
                            <a:highlight>
                              <a:srgbClr val="FFFF00"/>
                            </a:highlight>
                          </a:endParaRPr>
                        </a:p>
                      </a:txBody>
                      <a:tcPr>
                        <a:solidFill>
                          <a:schemeClr val="accent2"/>
                        </a:solidFill>
                      </a:tcPr>
                    </a:tc>
                    <a:tc>
                      <a:txBody>
                        <a:bodyPr/>
                        <a:lstStyle/>
                        <a:p>
                          <a:endParaRPr lang="en-US">
                            <a:highlight>
                              <a:srgbClr val="FFFF00"/>
                            </a:highlight>
                          </a:endParaRPr>
                        </a:p>
                      </a:txBody>
                      <a:tcPr>
                        <a:solidFill>
                          <a:schemeClr val="accent2"/>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extLst>
                      <a:ext uri="{0D108BD9-81ED-4DB2-BD59-A6C34878D82A}">
                        <a16:rowId xmlns:a16="http://schemas.microsoft.com/office/drawing/2014/main" val="3862822257"/>
                      </a:ext>
                    </a:extLst>
                  </a:tr>
                  <a:tr h="502920">
                    <a:tc>
                      <a:txBody>
                        <a:bodyPr/>
                        <a:lstStyle/>
                        <a:p>
                          <a:r>
                            <a:rPr lang="en-US"/>
                            <a:t>S^1</a:t>
                          </a:r>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solidFill>
                          <a:schemeClr val="bg1">
                            <a:lumMod val="85000"/>
                          </a:schemeClr>
                        </a:solidFill>
                      </a:tcPr>
                    </a:tc>
                    <a:tc>
                      <a:txBody>
                        <a:bodyPr/>
                        <a:lstStyle/>
                        <a:p>
                          <a:r>
                            <a:rPr lang="en-US"/>
                            <a:t>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a:p>
                        <a:p>
                          <a:endParaRPr lang="en-US"/>
                        </a:p>
                      </a:txBody>
                      <a:tcPr/>
                    </a:tc>
                    <a:extLst>
                      <a:ext uri="{0D108BD9-81ED-4DB2-BD59-A6C34878D82A}">
                        <a16:rowId xmlns:a16="http://schemas.microsoft.com/office/drawing/2014/main" val="3749945961"/>
                      </a:ext>
                    </a:extLst>
                  </a:tr>
                  <a:tr h="502920">
                    <a:tc>
                      <a:txBody>
                        <a:bodyPr/>
                        <a:lstStyle/>
                        <a:p>
                          <a:r>
                            <a:rPr lang="en-US"/>
                            <a:t>S^0</a:t>
                          </a:r>
                        </a:p>
                      </a:txBody>
                      <a:tcPr>
                        <a:solidFill>
                          <a:schemeClr val="bg1">
                            <a:lumMod val="85000"/>
                          </a:schemeClr>
                        </a:solidFill>
                      </a:tcPr>
                    </a:tc>
                    <a:tc>
                      <a:txBody>
                        <a:bodyPr/>
                        <a:lstStyle/>
                        <a:p>
                          <a:endParaRPr lang="en-US"/>
                        </a:p>
                      </a:txBody>
                      <a:tcPr>
                        <a:blipFill>
                          <a:blip r:embed="rId4"/>
                          <a:stretch>
                            <a:fillRect l="-101132" t="-443902" r="-301509" b="-10365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t>0</a:t>
                          </a:r>
                        </a:p>
                        <a:p>
                          <a:endParaRPr lang="en-US"/>
                        </a:p>
                      </a:txBody>
                      <a:tcPr/>
                    </a:tc>
                    <a:tc>
                      <a:txBody>
                        <a:bodyPr/>
                        <a:lstStyle/>
                        <a:p>
                          <a:endParaRPr lang="en-US"/>
                        </a:p>
                      </a:txBody>
                      <a:tcPr>
                        <a:blipFill>
                          <a:blip r:embed="rId4"/>
                          <a:stretch>
                            <a:fillRect l="-400000" t="-443902" r="-752" b="-103659"/>
                          </a:stretch>
                        </a:blipFill>
                      </a:tcPr>
                    </a:tc>
                    <a:extLst>
                      <a:ext uri="{0D108BD9-81ED-4DB2-BD59-A6C34878D82A}">
                        <a16:rowId xmlns:a16="http://schemas.microsoft.com/office/drawing/2014/main" val="2460114984"/>
                      </a:ext>
                    </a:extLst>
                  </a:tr>
                  <a:tr h="502920">
                    <a:tc>
                      <a:txBody>
                        <a:bodyPr/>
                        <a:lstStyle/>
                        <a:p>
                          <a:endParaRPr lang="en-US"/>
                        </a:p>
                      </a:txBody>
                      <a:tcPr>
                        <a:solidFill>
                          <a:schemeClr val="bg1">
                            <a:lumMod val="85000"/>
                          </a:schemeClr>
                        </a:solidFill>
                      </a:tcPr>
                    </a:tc>
                    <a:tc>
                      <a:txBody>
                        <a:bodyPr/>
                        <a:lstStyle/>
                        <a:p>
                          <a:endParaRPr lang="en-US"/>
                        </a:p>
                      </a:txBody>
                      <a:tcPr>
                        <a:blipFill>
                          <a:blip r:embed="rId4"/>
                          <a:stretch>
                            <a:fillRect l="-101132" t="-537349" r="-301509" b="-2410"/>
                          </a:stretch>
                        </a:blipFill>
                      </a:tcPr>
                    </a:tc>
                    <a:tc>
                      <a:txBody>
                        <a:bodyPr/>
                        <a:lstStyle/>
                        <a:p>
                          <a:endParaRPr lang="en-US"/>
                        </a:p>
                      </a:txBody>
                      <a:tcPr>
                        <a:blipFill>
                          <a:blip r:embed="rId4"/>
                          <a:stretch>
                            <a:fillRect l="-200376" t="-537349" r="-200376" b="-2410"/>
                          </a:stretch>
                        </a:blipFill>
                      </a:tcPr>
                    </a:tc>
                    <a:tc>
                      <a:txBody>
                        <a:bodyPr/>
                        <a:lstStyle/>
                        <a:p>
                          <a:endParaRPr lang="en-US"/>
                        </a:p>
                      </a:txBody>
                      <a:tcPr>
                        <a:blipFill>
                          <a:blip r:embed="rId4"/>
                          <a:stretch>
                            <a:fillRect l="-301509" t="-537349" r="-101132" b="-2410"/>
                          </a:stretch>
                        </a:blipFill>
                      </a:tcPr>
                    </a:tc>
                    <a:tc>
                      <a:txBody>
                        <a:bodyPr/>
                        <a:lstStyle/>
                        <a:p>
                          <a:endParaRPr lang="en-US"/>
                        </a:p>
                      </a:txBody>
                      <a:tcPr>
                        <a:blipFill>
                          <a:blip r:embed="rId4"/>
                          <a:stretch>
                            <a:fillRect l="-400000" t="-537349" r="-752" b="-2410"/>
                          </a:stretch>
                        </a:blipFill>
                      </a:tcPr>
                    </a:tc>
                    <a:extLst>
                      <a:ext uri="{0D108BD9-81ED-4DB2-BD59-A6C34878D82A}">
                        <a16:rowId xmlns:a16="http://schemas.microsoft.com/office/drawing/2014/main" val="4058995034"/>
                      </a:ext>
                    </a:extLst>
                  </a:tr>
                </a:tbl>
              </a:graphicData>
            </a:graphic>
          </p:graphicFrame>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144F6B8-BD64-6087-2870-DD7B82E59537}"/>
                  </a:ext>
                </a:extLst>
              </p:cNvPr>
              <p:cNvSpPr txBox="1"/>
              <p:nvPr/>
            </p:nvSpPr>
            <p:spPr>
              <a:xfrm>
                <a:off x="4084205" y="2199176"/>
                <a:ext cx="4752583" cy="2800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b="0" i="1" smtClean="0">
                              <a:latin typeface="Cambria Math" panose="02040503050406030204" pitchFamily="18" charset="0"/>
                            </a:rPr>
                          </m:ctrlPr>
                        </m:sSupPr>
                        <m:e>
                          <m:r>
                            <m:rPr>
                              <m:sty m:val="p"/>
                            </m:rPr>
                            <a:rPr lang="es-CO" i="1" smtClean="0">
                              <a:latin typeface="Cambria Math" panose="02040503050406030204" pitchFamily="18" charset="0"/>
                            </a:rPr>
                            <m:t>s</m:t>
                          </m:r>
                        </m:e>
                        <m:sup>
                          <m:r>
                            <a:rPr lang="es-CO" b="0" i="1" smtClean="0">
                              <a:latin typeface="Cambria Math" panose="02040503050406030204" pitchFamily="18" charset="0"/>
                            </a:rPr>
                            <m:t>5</m:t>
                          </m:r>
                        </m:sup>
                      </m:sSup>
                      <m:r>
                        <a:rPr lang="es-CO" b="0" i="1" smtClean="0">
                          <a:latin typeface="Cambria Math" panose="02040503050406030204" pitchFamily="18" charset="0"/>
                        </a:rPr>
                        <m:t>+13</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𝑠</m:t>
                          </m:r>
                        </m:e>
                        <m:sup>
                          <m:r>
                            <a:rPr lang="es-CO" b="0" i="1" smtClean="0">
                              <a:latin typeface="Cambria Math" panose="02040503050406030204" pitchFamily="18" charset="0"/>
                            </a:rPr>
                            <m:t>4</m:t>
                          </m:r>
                        </m:sup>
                      </m:sSup>
                      <m:r>
                        <a:rPr lang="es-CO" b="0" i="1" smtClean="0">
                          <a:latin typeface="Cambria Math" panose="02040503050406030204" pitchFamily="18" charset="0"/>
                        </a:rPr>
                        <m:t>+54</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𝑠</m:t>
                          </m:r>
                        </m:e>
                        <m:sup>
                          <m:r>
                            <a:rPr lang="es-CO" b="0" i="1" smtClean="0">
                              <a:latin typeface="Cambria Math" panose="02040503050406030204" pitchFamily="18" charset="0"/>
                            </a:rPr>
                            <m:t>3</m:t>
                          </m:r>
                        </m:sup>
                      </m:sSup>
                      <m:r>
                        <a:rPr lang="es-CO" b="0" i="1" smtClean="0">
                          <a:latin typeface="Cambria Math" panose="02040503050406030204" pitchFamily="18" charset="0"/>
                        </a:rPr>
                        <m:t>+82</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𝑠</m:t>
                          </m:r>
                        </m:e>
                        <m:sup>
                          <m:r>
                            <a:rPr lang="es-CO" b="0" i="1" smtClean="0">
                              <a:latin typeface="Cambria Math" panose="02040503050406030204" pitchFamily="18" charset="0"/>
                            </a:rPr>
                            <m:t>2</m:t>
                          </m:r>
                        </m:sup>
                      </m:sSup>
                      <m:r>
                        <a:rPr lang="es-CO" b="0" i="1" smtClean="0">
                          <a:latin typeface="Cambria Math" panose="02040503050406030204" pitchFamily="18" charset="0"/>
                        </a:rPr>
                        <m:t>+</m:t>
                      </m:r>
                      <m:d>
                        <m:dPr>
                          <m:ctrlPr>
                            <a:rPr lang="es-CO" b="0" i="1" smtClean="0">
                              <a:latin typeface="Cambria Math" panose="02040503050406030204" pitchFamily="18" charset="0"/>
                            </a:rPr>
                          </m:ctrlPr>
                        </m:dPr>
                        <m:e>
                          <m:r>
                            <a:rPr lang="es-CO" b="0" i="1" smtClean="0">
                              <a:latin typeface="Cambria Math" panose="02040503050406030204" pitchFamily="18" charset="0"/>
                            </a:rPr>
                            <m:t>60+</m:t>
                          </m:r>
                          <m:r>
                            <a:rPr lang="es-CO" b="0" i="1" smtClean="0">
                              <a:latin typeface="Cambria Math" panose="02040503050406030204" pitchFamily="18" charset="0"/>
                            </a:rPr>
                            <m:t>𝑘</m:t>
                          </m:r>
                        </m:e>
                      </m:d>
                      <m:r>
                        <a:rPr lang="es-CO" b="0" i="1" smtClean="0">
                          <a:latin typeface="Cambria Math" panose="02040503050406030204" pitchFamily="18" charset="0"/>
                        </a:rPr>
                        <m:t>𝑠</m:t>
                      </m:r>
                      <m:r>
                        <a:rPr lang="es-CO" b="0" i="1" smtClean="0">
                          <a:latin typeface="Cambria Math" panose="02040503050406030204" pitchFamily="18" charset="0"/>
                        </a:rPr>
                        <m:t>+3</m:t>
                      </m:r>
                      <m:r>
                        <a:rPr lang="es-CO" b="0" i="1" smtClean="0">
                          <a:latin typeface="Cambria Math" panose="02040503050406030204" pitchFamily="18" charset="0"/>
                        </a:rPr>
                        <m:t>𝑘</m:t>
                      </m:r>
                      <m:r>
                        <a:rPr lang="es-CO" b="0" i="1" smtClean="0">
                          <a:latin typeface="Cambria Math" panose="02040503050406030204" pitchFamily="18" charset="0"/>
                        </a:rPr>
                        <m:t>=0</m:t>
                      </m:r>
                    </m:oMath>
                  </m:oMathPara>
                </a14:m>
                <a:endParaRPr lang="en-US"/>
              </a:p>
            </p:txBody>
          </p:sp>
        </mc:Choice>
        <mc:Fallback xmlns="">
          <p:sp>
            <p:nvSpPr>
              <p:cNvPr id="4" name="CuadroTexto 3">
                <a:extLst>
                  <a:ext uri="{FF2B5EF4-FFF2-40B4-BE49-F238E27FC236}">
                    <a16:creationId xmlns:a16="http://schemas.microsoft.com/office/drawing/2014/main" id="{E144F6B8-BD64-6087-2870-DD7B82E59537}"/>
                  </a:ext>
                </a:extLst>
              </p:cNvPr>
              <p:cNvSpPr txBox="1">
                <a:spLocks noRot="1" noChangeAspect="1" noMove="1" noResize="1" noEditPoints="1" noAdjustHandles="1" noChangeArrowheads="1" noChangeShapeType="1" noTextEdit="1"/>
              </p:cNvSpPr>
              <p:nvPr/>
            </p:nvSpPr>
            <p:spPr>
              <a:xfrm>
                <a:off x="4084205" y="2199176"/>
                <a:ext cx="4752583" cy="280077"/>
              </a:xfrm>
              <a:prstGeom prst="rect">
                <a:avLst/>
              </a:prstGeom>
              <a:blipFill>
                <a:blip r:embed="rId5"/>
                <a:stretch>
                  <a:fillRect l="-256" t="-4348" r="-641" b="-8696"/>
                </a:stretch>
              </a:blipFill>
            </p:spPr>
            <p:txBody>
              <a:bodyPr/>
              <a:lstStyle/>
              <a:p>
                <a:r>
                  <a:rPr lang="en-US">
                    <a:noFill/>
                  </a:rPr>
                  <a:t> </a:t>
                </a:r>
              </a:p>
            </p:txBody>
          </p:sp>
        </mc:Fallback>
      </mc:AlternateContent>
      <p:sp>
        <p:nvSpPr>
          <p:cNvPr id="8" name="Título 1">
            <a:extLst>
              <a:ext uri="{FF2B5EF4-FFF2-40B4-BE49-F238E27FC236}">
                <a16:creationId xmlns:a16="http://schemas.microsoft.com/office/drawing/2014/main" id="{F83DDA28-25FE-A981-5B7F-3125840DB67F}"/>
              </a:ext>
            </a:extLst>
          </p:cNvPr>
          <p:cNvSpPr txBox="1">
            <a:spLocks/>
          </p:cNvSpPr>
          <p:nvPr/>
        </p:nvSpPr>
        <p:spPr>
          <a:xfrm>
            <a:off x="865066" y="6057367"/>
            <a:ext cx="3632922" cy="1045182"/>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r>
              <a:rPr lang="es-ES" sz="1600"/>
              <a:t>Reemplace k en el renglón de la ecuación resultante color naranja</a:t>
            </a:r>
          </a:p>
          <a:p>
            <a:br>
              <a:rPr lang="es-ES" sz="1600"/>
            </a:br>
            <a:endParaRPr lang="es-CO" sz="1600"/>
          </a:p>
        </p:txBody>
      </p:sp>
    </p:spTree>
    <p:extLst>
      <p:ext uri="{BB962C8B-B14F-4D97-AF65-F5344CB8AC3E}">
        <p14:creationId xmlns:p14="http://schemas.microsoft.com/office/powerpoint/2010/main" val="843580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A04D4-1201-AA48-A2BE-95DC5B1484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B59A5C-A2EA-1EE6-B613-243EA3EF70BC}"/>
              </a:ext>
            </a:extLst>
          </p:cNvPr>
          <p:cNvSpPr>
            <a:spLocks noGrp="1"/>
          </p:cNvSpPr>
          <p:nvPr>
            <p:ph type="title"/>
          </p:nvPr>
        </p:nvSpPr>
        <p:spPr>
          <a:xfrm>
            <a:off x="603357" y="1382360"/>
            <a:ext cx="5542406" cy="794720"/>
          </a:xfrm>
        </p:spPr>
        <p:txBody>
          <a:bodyPr>
            <a:normAutofit/>
          </a:bodyPr>
          <a:lstStyle/>
          <a:p>
            <a:r>
              <a:rPr lang="es-CO" b="1"/>
              <a:t>Paso a Paso</a:t>
            </a:r>
            <a:br>
              <a:rPr lang="es-CO" b="1"/>
            </a:br>
            <a:r>
              <a:rPr lang="es-CO" b="1"/>
              <a:t>8) Puntos de ruptura:</a:t>
            </a:r>
          </a:p>
        </p:txBody>
      </p:sp>
      <p:sp>
        <p:nvSpPr>
          <p:cNvPr id="10" name="1 Título">
            <a:extLst>
              <a:ext uri="{FF2B5EF4-FFF2-40B4-BE49-F238E27FC236}">
                <a16:creationId xmlns:a16="http://schemas.microsoft.com/office/drawing/2014/main" id="{646B5BE5-25C9-DDDD-C533-78120FB795A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13</a:t>
            </a:r>
          </a:p>
        </p:txBody>
      </p:sp>
      <p:pic>
        <p:nvPicPr>
          <p:cNvPr id="14" name="Picture 4" descr="Programas - Intranet ETITC">
            <a:extLst>
              <a:ext uri="{FF2B5EF4-FFF2-40B4-BE49-F238E27FC236}">
                <a16:creationId xmlns:a16="http://schemas.microsoft.com/office/drawing/2014/main" id="{7256F48B-EFDB-FFC6-D129-FF8FF1F3C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7C932403-741F-55E8-9B04-553A6E9F65D9}"/>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Título 1">
            <a:extLst>
              <a:ext uri="{FF2B5EF4-FFF2-40B4-BE49-F238E27FC236}">
                <a16:creationId xmlns:a16="http://schemas.microsoft.com/office/drawing/2014/main" id="{74321264-C0F7-5B42-72AB-0FF3D24E1B2B}"/>
              </a:ext>
            </a:extLst>
          </p:cNvPr>
          <p:cNvSpPr txBox="1">
            <a:spLocks/>
          </p:cNvSpPr>
          <p:nvPr/>
        </p:nvSpPr>
        <p:spPr>
          <a:xfrm>
            <a:off x="451283" y="2103756"/>
            <a:ext cx="3632922" cy="256197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l"/>
            <a:endParaRPr lang="es-ES" sz="1600"/>
          </a:p>
          <a:p>
            <a:pPr algn="l"/>
            <a:endParaRPr lang="es-ES" sz="1600"/>
          </a:p>
          <a:p>
            <a:pPr algn="l"/>
            <a:endParaRPr lang="es-ES" sz="1600"/>
          </a:p>
          <a:p>
            <a:endParaRPr lang="es-ES" sz="1600"/>
          </a:p>
          <a:p>
            <a:pPr algn="l"/>
            <a:endParaRPr lang="es-ES" sz="1600"/>
          </a:p>
          <a:p>
            <a:pPr algn="l"/>
            <a:endParaRPr lang="es-ES" sz="1600"/>
          </a:p>
          <a:p>
            <a:pPr algn="l"/>
            <a:endParaRPr lang="es-ES" sz="1600"/>
          </a:p>
          <a:p>
            <a:pPr algn="l"/>
            <a:endParaRPr lang="es-ES" sz="1600"/>
          </a:p>
          <a:p>
            <a:br>
              <a:rPr lang="es-ES" sz="1600"/>
            </a:br>
            <a:endParaRPr lang="es-CO" sz="160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A7D2F71E-66B3-0155-3CD8-EC0F58B3FDAF}"/>
                  </a:ext>
                </a:extLst>
              </p:cNvPr>
              <p:cNvSpPr txBox="1"/>
              <p:nvPr/>
            </p:nvSpPr>
            <p:spPr>
              <a:xfrm>
                <a:off x="5034059" y="1297232"/>
                <a:ext cx="3324052"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latin typeface="Cambria Math" panose="02040503050406030204" pitchFamily="18" charset="0"/>
                        </a:rPr>
                        <m:t>1+</m:t>
                      </m:r>
                      <m:f>
                        <m:fPr>
                          <m:ctrlPr>
                            <a:rPr lang="es-CO" b="0" i="1" smtClean="0">
                              <a:solidFill>
                                <a:schemeClr val="tx1"/>
                              </a:solidFill>
                              <a:latin typeface="Cambria Math" panose="02040503050406030204" pitchFamily="18" charset="0"/>
                            </a:rPr>
                          </m:ctrlPr>
                        </m:fPr>
                        <m:num>
                          <m:r>
                            <a:rPr lang="es-CO" b="0" i="1" smtClean="0">
                              <a:solidFill>
                                <a:schemeClr val="tx1"/>
                              </a:solidFill>
                              <a:latin typeface="Cambria Math" panose="02040503050406030204" pitchFamily="18" charset="0"/>
                            </a:rPr>
                            <m:t>𝑘</m:t>
                          </m:r>
                          <m:d>
                            <m:dPr>
                              <m:ctrlPr>
                                <a:rPr lang="es-CO" b="0" i="1" smtClean="0">
                                  <a:solidFill>
                                    <a:schemeClr val="tx1"/>
                                  </a:solidFill>
                                  <a:latin typeface="Cambria Math" panose="02040503050406030204" pitchFamily="18" charset="0"/>
                                </a:rPr>
                              </m:ctrlPr>
                            </m:dPr>
                            <m:e>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+3</m:t>
                              </m:r>
                            </m:e>
                          </m:d>
                        </m:num>
                        <m:den>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+5)(</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+6)(</m:t>
                          </m:r>
                          <m:sSup>
                            <m:sSupPr>
                              <m:ctrlPr>
                                <a:rPr lang="es-CO" b="0" i="1" smtClean="0">
                                  <a:solidFill>
                                    <a:schemeClr val="tx1"/>
                                  </a:solidFill>
                                  <a:latin typeface="Cambria Math" panose="02040503050406030204" pitchFamily="18" charset="0"/>
                                </a:rPr>
                              </m:ctrlPr>
                            </m:sSupPr>
                            <m:e>
                              <m:r>
                                <a:rPr lang="es-CO" b="0" i="1" smtClean="0">
                                  <a:solidFill>
                                    <a:schemeClr val="tx1"/>
                                  </a:solidFill>
                                  <a:latin typeface="Cambria Math" panose="02040503050406030204" pitchFamily="18" charset="0"/>
                                </a:rPr>
                                <m:t>𝑠</m:t>
                              </m:r>
                            </m:e>
                            <m:sup>
                              <m:r>
                                <a:rPr lang="es-CO" b="0" i="1" smtClean="0">
                                  <a:solidFill>
                                    <a:schemeClr val="tx1"/>
                                  </a:solidFill>
                                  <a:latin typeface="Cambria Math" panose="02040503050406030204" pitchFamily="18" charset="0"/>
                                </a:rPr>
                                <m:t>2</m:t>
                              </m:r>
                            </m:sup>
                          </m:sSup>
                          <m:r>
                            <a:rPr lang="es-CO" b="0" i="1" smtClean="0">
                              <a:solidFill>
                                <a:schemeClr val="tx1"/>
                              </a:solidFill>
                              <a:latin typeface="Cambria Math" panose="02040503050406030204" pitchFamily="18" charset="0"/>
                            </a:rPr>
                            <m:t>+2</m:t>
                          </m:r>
                          <m:r>
                            <a:rPr lang="es-CO" b="0" i="1" smtClean="0">
                              <a:solidFill>
                                <a:schemeClr val="tx1"/>
                              </a:solidFill>
                              <a:latin typeface="Cambria Math" panose="02040503050406030204" pitchFamily="18" charset="0"/>
                            </a:rPr>
                            <m:t>𝑠</m:t>
                          </m:r>
                          <m:r>
                            <a:rPr lang="es-CO" b="0" i="1" smtClean="0">
                              <a:solidFill>
                                <a:schemeClr val="tx1"/>
                              </a:solidFill>
                              <a:latin typeface="Cambria Math" panose="02040503050406030204" pitchFamily="18" charset="0"/>
                            </a:rPr>
                            <m:t>+2)</m:t>
                          </m:r>
                        </m:den>
                      </m:f>
                    </m:oMath>
                  </m:oMathPara>
                </a14:m>
                <a:endParaRPr lang="en-US" dirty="0"/>
              </a:p>
            </p:txBody>
          </p:sp>
        </mc:Choice>
        <mc:Fallback xmlns="">
          <p:sp>
            <p:nvSpPr>
              <p:cNvPr id="7" name="CuadroTexto 6">
                <a:extLst>
                  <a:ext uri="{FF2B5EF4-FFF2-40B4-BE49-F238E27FC236}">
                    <a16:creationId xmlns:a16="http://schemas.microsoft.com/office/drawing/2014/main" id="{A7D2F71E-66B3-0155-3CD8-EC0F58B3FDAF}"/>
                  </a:ext>
                </a:extLst>
              </p:cNvPr>
              <p:cNvSpPr txBox="1">
                <a:spLocks noRot="1" noChangeAspect="1" noMove="1" noResize="1" noEditPoints="1" noAdjustHandles="1" noChangeArrowheads="1" noChangeShapeType="1" noTextEdit="1"/>
              </p:cNvSpPr>
              <p:nvPr/>
            </p:nvSpPr>
            <p:spPr>
              <a:xfrm>
                <a:off x="5034059" y="1297232"/>
                <a:ext cx="3324052" cy="5866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EE27BFA-5669-A683-82E8-BEE6425086C9}"/>
                  </a:ext>
                </a:extLst>
              </p:cNvPr>
              <p:cNvSpPr txBox="1"/>
              <p:nvPr/>
            </p:nvSpPr>
            <p:spPr>
              <a:xfrm>
                <a:off x="3187538" y="3895120"/>
                <a:ext cx="2303003" cy="460447"/>
              </a:xfrm>
              <a:prstGeom prst="rect">
                <a:avLst/>
              </a:prstGeom>
              <a:noFill/>
            </p:spPr>
            <p:txBody>
              <a:bodyPr wrap="none" lIns="0" tIns="0" rIns="0" bIns="0" rtlCol="0">
                <a:spAutoFit/>
              </a:bodyPr>
              <a:lstStyle/>
              <a:p>
                <a:r>
                  <a:rPr lang="es-CO" b="0">
                    <a:solidFill>
                      <a:schemeClr val="tx1"/>
                    </a:solidFill>
                  </a:rPr>
                  <a:t>K=</a:t>
                </a:r>
                <a14:m>
                  <m:oMath xmlns:m="http://schemas.openxmlformats.org/officeDocument/2006/math">
                    <m:r>
                      <a:rPr lang="es-CO" b="0" i="1" smtClean="0">
                        <a:solidFill>
                          <a:schemeClr val="tx1"/>
                        </a:solidFill>
                        <a:latin typeface="Cambria Math" panose="02040503050406030204" pitchFamily="18" charset="0"/>
                      </a:rPr>
                      <m:t>−</m:t>
                    </m:r>
                    <m:f>
                      <m:fPr>
                        <m:ctrlPr>
                          <a:rPr lang="es-CO" b="0" i="1" smtClean="0">
                            <a:solidFill>
                              <a:schemeClr val="tx1"/>
                            </a:solidFill>
                            <a:latin typeface="Cambria Math" panose="02040503050406030204" pitchFamily="18" charset="0"/>
                          </a:rPr>
                        </m:ctrlPr>
                      </m:fPr>
                      <m:num>
                        <m:r>
                          <a:rPr lang="es-CO" i="1">
                            <a:latin typeface="Cambria Math" panose="02040503050406030204" pitchFamily="18" charset="0"/>
                          </a:rPr>
                          <m:t>𝑠</m:t>
                        </m:r>
                        <m:r>
                          <a:rPr lang="es-CO" i="1">
                            <a:latin typeface="Cambria Math" panose="02040503050406030204" pitchFamily="18" charset="0"/>
                          </a:rPr>
                          <m:t>(</m:t>
                        </m:r>
                        <m:r>
                          <a:rPr lang="es-CO" i="1">
                            <a:latin typeface="Cambria Math" panose="02040503050406030204" pitchFamily="18" charset="0"/>
                          </a:rPr>
                          <m:t>𝑠</m:t>
                        </m:r>
                        <m:r>
                          <a:rPr lang="es-CO" i="1">
                            <a:latin typeface="Cambria Math" panose="02040503050406030204" pitchFamily="18" charset="0"/>
                          </a:rPr>
                          <m:t>+5)(</m:t>
                        </m:r>
                        <m:r>
                          <a:rPr lang="es-CO" i="1">
                            <a:latin typeface="Cambria Math" panose="02040503050406030204" pitchFamily="18" charset="0"/>
                          </a:rPr>
                          <m:t>𝑠</m:t>
                        </m:r>
                        <m:r>
                          <a:rPr lang="es-CO" i="1">
                            <a:latin typeface="Cambria Math" panose="02040503050406030204" pitchFamily="18" charset="0"/>
                          </a:rPr>
                          <m:t>+6)(</m:t>
                        </m:r>
                        <m:sSup>
                          <m:sSupPr>
                            <m:ctrlPr>
                              <a:rPr lang="es-CO" i="1">
                                <a:latin typeface="Cambria Math" panose="02040503050406030204" pitchFamily="18" charset="0"/>
                              </a:rPr>
                            </m:ctrlPr>
                          </m:sSupPr>
                          <m:e>
                            <m:r>
                              <a:rPr lang="es-CO" i="1">
                                <a:latin typeface="Cambria Math" panose="02040503050406030204" pitchFamily="18" charset="0"/>
                              </a:rPr>
                              <m:t>𝑠</m:t>
                            </m:r>
                          </m:e>
                          <m:sup>
                            <m:r>
                              <a:rPr lang="es-CO" i="1">
                                <a:latin typeface="Cambria Math" panose="02040503050406030204" pitchFamily="18" charset="0"/>
                              </a:rPr>
                              <m:t>2</m:t>
                            </m:r>
                          </m:sup>
                        </m:sSup>
                        <m:r>
                          <a:rPr lang="es-CO" i="1">
                            <a:latin typeface="Cambria Math" panose="02040503050406030204" pitchFamily="18" charset="0"/>
                          </a:rPr>
                          <m:t>+2</m:t>
                        </m:r>
                        <m:r>
                          <a:rPr lang="es-CO" i="1">
                            <a:latin typeface="Cambria Math" panose="02040503050406030204" pitchFamily="18" charset="0"/>
                          </a:rPr>
                          <m:t>𝑠</m:t>
                        </m:r>
                        <m:r>
                          <a:rPr lang="es-CO" i="1">
                            <a:latin typeface="Cambria Math" panose="02040503050406030204" pitchFamily="18" charset="0"/>
                          </a:rPr>
                          <m:t>+2) </m:t>
                        </m:r>
                      </m:num>
                      <m:den>
                        <m:d>
                          <m:dPr>
                            <m:ctrlPr>
                              <a:rPr lang="es-CO" i="1">
                                <a:latin typeface="Cambria Math" panose="02040503050406030204" pitchFamily="18" charset="0"/>
                              </a:rPr>
                            </m:ctrlPr>
                          </m:dPr>
                          <m:e>
                            <m:r>
                              <a:rPr lang="es-CO" i="1">
                                <a:latin typeface="Cambria Math" panose="02040503050406030204" pitchFamily="18" charset="0"/>
                              </a:rPr>
                              <m:t>𝑠</m:t>
                            </m:r>
                            <m:r>
                              <a:rPr lang="es-CO" i="1">
                                <a:latin typeface="Cambria Math" panose="02040503050406030204" pitchFamily="18" charset="0"/>
                              </a:rPr>
                              <m:t>+3</m:t>
                            </m:r>
                          </m:e>
                        </m:d>
                      </m:den>
                    </m:f>
                  </m:oMath>
                </a14:m>
                <a:endParaRPr lang="en-US"/>
              </a:p>
            </p:txBody>
          </p:sp>
        </mc:Choice>
        <mc:Fallback xmlns="">
          <p:sp>
            <p:nvSpPr>
              <p:cNvPr id="8" name="CuadroTexto 7">
                <a:extLst>
                  <a:ext uri="{FF2B5EF4-FFF2-40B4-BE49-F238E27FC236}">
                    <a16:creationId xmlns:a16="http://schemas.microsoft.com/office/drawing/2014/main" id="{6EE27BFA-5669-A683-82E8-BEE6425086C9}"/>
                  </a:ext>
                </a:extLst>
              </p:cNvPr>
              <p:cNvSpPr txBox="1">
                <a:spLocks noRot="1" noChangeAspect="1" noMove="1" noResize="1" noEditPoints="1" noAdjustHandles="1" noChangeArrowheads="1" noChangeShapeType="1" noTextEdit="1"/>
              </p:cNvSpPr>
              <p:nvPr/>
            </p:nvSpPr>
            <p:spPr>
              <a:xfrm>
                <a:off x="3187538" y="3895120"/>
                <a:ext cx="2303003" cy="460447"/>
              </a:xfrm>
              <a:prstGeom prst="rect">
                <a:avLst/>
              </a:prstGeom>
              <a:blipFill>
                <a:blip r:embed="rId4"/>
                <a:stretch>
                  <a:fillRect l="-6349"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558B346-8C49-CC5B-D1A4-BB5D8AAE600B}"/>
                  </a:ext>
                </a:extLst>
              </p:cNvPr>
              <p:cNvSpPr txBox="1"/>
              <p:nvPr/>
            </p:nvSpPr>
            <p:spPr>
              <a:xfrm>
                <a:off x="4084205" y="3008444"/>
                <a:ext cx="784446"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b="0" i="1" smtClean="0">
                              <a:solidFill>
                                <a:schemeClr val="tx1"/>
                              </a:solidFill>
                              <a:latin typeface="Cambria Math" panose="02040503050406030204" pitchFamily="18" charset="0"/>
                            </a:rPr>
                          </m:ctrlPr>
                        </m:fPr>
                        <m:num>
                          <m:r>
                            <a:rPr lang="es-CO" i="1" smtClean="0">
                              <a:latin typeface="Cambria Math" panose="02040503050406030204" pitchFamily="18" charset="0"/>
                            </a:rPr>
                            <m:t>𝑑</m:t>
                          </m:r>
                          <m:r>
                            <a:rPr lang="es-CO" b="0" i="1" smtClean="0">
                              <a:latin typeface="Cambria Math" panose="02040503050406030204" pitchFamily="18" charset="0"/>
                            </a:rPr>
                            <m:t>𝐾</m:t>
                          </m:r>
                        </m:num>
                        <m:den>
                          <m:r>
                            <a:rPr lang="es-CO" b="0" i="1" smtClean="0">
                              <a:latin typeface="Cambria Math" panose="02040503050406030204" pitchFamily="18" charset="0"/>
                            </a:rPr>
                            <m:t>𝑑𝑠</m:t>
                          </m:r>
                        </m:den>
                      </m:f>
                      <m:r>
                        <a:rPr lang="es-CO" b="0" i="1" smtClean="0">
                          <a:solidFill>
                            <a:schemeClr val="tx1"/>
                          </a:solidFill>
                          <a:latin typeface="Cambria Math" panose="02040503050406030204" pitchFamily="18" charset="0"/>
                        </a:rPr>
                        <m:t>=0</m:t>
                      </m:r>
                    </m:oMath>
                  </m:oMathPara>
                </a14:m>
                <a:endParaRPr lang="en-US"/>
              </a:p>
            </p:txBody>
          </p:sp>
        </mc:Choice>
        <mc:Fallback xmlns="">
          <p:sp>
            <p:nvSpPr>
              <p:cNvPr id="9" name="CuadroTexto 8">
                <a:extLst>
                  <a:ext uri="{FF2B5EF4-FFF2-40B4-BE49-F238E27FC236}">
                    <a16:creationId xmlns:a16="http://schemas.microsoft.com/office/drawing/2014/main" id="{E558B346-8C49-CC5B-D1A4-BB5D8AAE600B}"/>
                  </a:ext>
                </a:extLst>
              </p:cNvPr>
              <p:cNvSpPr txBox="1">
                <a:spLocks noRot="1" noChangeAspect="1" noMove="1" noResize="1" noEditPoints="1" noAdjustHandles="1" noChangeArrowheads="1" noChangeShapeType="1" noTextEdit="1"/>
              </p:cNvSpPr>
              <p:nvPr/>
            </p:nvSpPr>
            <p:spPr>
              <a:xfrm>
                <a:off x="4084205" y="3008444"/>
                <a:ext cx="784446" cy="525978"/>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10015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a:t>Actividad Individual</a:t>
            </a:r>
          </a:p>
        </p:txBody>
      </p:sp>
      <mc:AlternateContent xmlns:mc="http://schemas.openxmlformats.org/markup-compatibility/2006" xmlns:a14="http://schemas.microsoft.com/office/drawing/2010/main">
        <mc:Choice Requires="a14">
          <p:sp>
            <p:nvSpPr>
              <p:cNvPr id="4" name="Marcador de texto 3">
                <a:extLst>
                  <a:ext uri="{FF2B5EF4-FFF2-40B4-BE49-F238E27FC236}">
                    <a16:creationId xmlns:a16="http://schemas.microsoft.com/office/drawing/2014/main" id="{2C7E43D4-8286-4BEE-907B-3A35AE701C90}"/>
                  </a:ext>
                </a:extLst>
              </p:cNvPr>
              <p:cNvSpPr>
                <a:spLocks noGrp="1"/>
              </p:cNvSpPr>
              <p:nvPr>
                <p:ph type="body" sz="half" idx="2"/>
              </p:nvPr>
            </p:nvSpPr>
            <p:spPr>
              <a:xfrm>
                <a:off x="1032565" y="2288364"/>
                <a:ext cx="7576605" cy="3443324"/>
              </a:xfrm>
            </p:spPr>
            <p:txBody>
              <a:bodyPr>
                <a:normAutofit fontScale="92500" lnSpcReduction="10000"/>
              </a:bodyPr>
              <a:lstStyle/>
              <a:p>
                <a:pPr algn="just"/>
                <a:endParaRPr lang="es-ES" sz="2400" dirty="0">
                  <a:latin typeface="Söhne"/>
                </a:endParaRPr>
              </a:p>
              <a:p>
                <a:pPr algn="just"/>
                <a:endParaRPr lang="es-ES" sz="2400" dirty="0">
                  <a:latin typeface="Söhne"/>
                </a:endParaRPr>
              </a:p>
              <a:p>
                <a:pPr algn="just"/>
                <a:r>
                  <a:rPr lang="es-ES" sz="2400" dirty="0">
                    <a:latin typeface="Söhne"/>
                  </a:rPr>
                  <a:t>Para la siguiente función de transferencia discretice dibuje el lugar geométrico de las raíces:</a:t>
                </a:r>
              </a:p>
              <a:p>
                <a:pPr algn="just"/>
                <a:endParaRPr lang="es-ES" sz="2400" dirty="0">
                  <a:latin typeface="Söhne"/>
                </a:endParaRPr>
              </a:p>
              <a:p>
                <a:pPr algn="just"/>
                <a14:m>
                  <m:oMathPara xmlns:m="http://schemas.openxmlformats.org/officeDocument/2006/math">
                    <m:oMathParaPr>
                      <m:jc m:val="centerGroup"/>
                    </m:oMathParaPr>
                    <m:oMath xmlns:m="http://schemas.openxmlformats.org/officeDocument/2006/math">
                      <m:f>
                        <m:fPr>
                          <m:ctrlPr>
                            <a:rPr lang="es-CO" sz="2400" b="0" i="1" smtClean="0">
                              <a:latin typeface="Cambria Math" panose="02040503050406030204" pitchFamily="18" charset="0"/>
                            </a:rPr>
                          </m:ctrlPr>
                        </m:fPr>
                        <m:num>
                          <m:r>
                            <a:rPr lang="es-CO" sz="2400" b="0" i="1" smtClean="0">
                              <a:latin typeface="Cambria Math" panose="02040503050406030204" pitchFamily="18" charset="0"/>
                            </a:rPr>
                            <m:t>𝑠</m:t>
                          </m:r>
                          <m:r>
                            <a:rPr lang="es-CO" sz="2400" b="0" i="1" smtClean="0">
                              <a:latin typeface="Cambria Math" panose="02040503050406030204" pitchFamily="18" charset="0"/>
                            </a:rPr>
                            <m:t>+2</m:t>
                          </m:r>
                        </m:num>
                        <m:den>
                          <m:sSup>
                            <m:sSupPr>
                              <m:ctrlPr>
                                <a:rPr lang="es-CO" sz="2400" b="0" i="1" smtClean="0">
                                  <a:latin typeface="Cambria Math" panose="02040503050406030204" pitchFamily="18" charset="0"/>
                                </a:rPr>
                              </m:ctrlPr>
                            </m:sSupPr>
                            <m:e>
                              <m:r>
                                <a:rPr lang="es-CO" sz="2400" b="0" i="1" smtClean="0">
                                  <a:latin typeface="Cambria Math" panose="02040503050406030204" pitchFamily="18" charset="0"/>
                                </a:rPr>
                                <m:t>𝑠</m:t>
                              </m:r>
                            </m:e>
                            <m:sup>
                              <m:r>
                                <a:rPr lang="es-CO" sz="2400" b="0" i="1" smtClean="0">
                                  <a:latin typeface="Cambria Math" panose="02040503050406030204" pitchFamily="18" charset="0"/>
                                </a:rPr>
                                <m:t>2</m:t>
                              </m:r>
                            </m:sup>
                          </m:sSup>
                          <m:r>
                            <a:rPr lang="es-CO" sz="2400" b="0" i="1" smtClean="0">
                              <a:latin typeface="Cambria Math" panose="02040503050406030204" pitchFamily="18" charset="0"/>
                            </a:rPr>
                            <m:t>+8</m:t>
                          </m:r>
                          <m:r>
                            <a:rPr lang="es-CO" sz="2400" b="0" i="1" smtClean="0">
                              <a:latin typeface="Cambria Math" panose="02040503050406030204" pitchFamily="18" charset="0"/>
                            </a:rPr>
                            <m:t>𝑠</m:t>
                          </m:r>
                          <m:r>
                            <a:rPr lang="es-CO" sz="2400" b="0" i="1" smtClean="0">
                              <a:latin typeface="Cambria Math" panose="02040503050406030204" pitchFamily="18" charset="0"/>
                            </a:rPr>
                            <m:t>+25</m:t>
                          </m:r>
                        </m:den>
                      </m:f>
                    </m:oMath>
                  </m:oMathPara>
                </a14:m>
                <a:endParaRPr lang="es-ES" sz="2400" dirty="0">
                  <a:latin typeface="Söhne"/>
                </a:endParaRPr>
              </a:p>
              <a:p>
                <a:pPr algn="just"/>
                <a:endParaRPr lang="es-ES" sz="2400" dirty="0">
                  <a:latin typeface="Söhne"/>
                </a:endParaRPr>
              </a:p>
              <a:p>
                <a:pPr algn="just"/>
                <a:r>
                  <a:rPr lang="es-ES" sz="2400" dirty="0">
                    <a:latin typeface="Söhne"/>
                  </a:rPr>
                  <a:t>Desarrolle el proceso paso a paso  y simule.</a:t>
                </a:r>
              </a:p>
              <a:p>
                <a:pPr algn="just"/>
                <a:r>
                  <a:rPr lang="es-ES" sz="2400" dirty="0">
                    <a:latin typeface="Söhne"/>
                  </a:rPr>
                  <a:t>¿para qué valor de k el sistema es inestable?</a:t>
                </a:r>
              </a:p>
            </p:txBody>
          </p:sp>
        </mc:Choice>
        <mc:Fallback xmlns="">
          <p:sp>
            <p:nvSpPr>
              <p:cNvPr id="4" name="Marcador de texto 3">
                <a:extLst>
                  <a:ext uri="{FF2B5EF4-FFF2-40B4-BE49-F238E27FC236}">
                    <a16:creationId xmlns:a16="http://schemas.microsoft.com/office/drawing/2014/main" id="{2C7E43D4-8286-4BEE-907B-3A35AE701C90}"/>
                  </a:ext>
                </a:extLst>
              </p:cNvPr>
              <p:cNvSpPr>
                <a:spLocks noGrp="1" noRot="1" noChangeAspect="1" noMove="1" noResize="1" noEditPoints="1" noAdjustHandles="1" noChangeArrowheads="1" noChangeShapeType="1" noTextEdit="1"/>
              </p:cNvSpPr>
              <p:nvPr>
                <p:ph type="body" sz="half" idx="2"/>
              </p:nvPr>
            </p:nvSpPr>
            <p:spPr>
              <a:xfrm>
                <a:off x="1032565" y="2288364"/>
                <a:ext cx="7576605" cy="3443324"/>
              </a:xfrm>
              <a:blipFill>
                <a:blip r:embed="rId3"/>
                <a:stretch>
                  <a:fillRect l="-1046" r="-1046" b="-3186"/>
                </a:stretch>
              </a:blipFill>
            </p:spPr>
            <p:txBody>
              <a:bodyPr/>
              <a:lstStyle/>
              <a:p>
                <a:r>
                  <a:rPr lang="en-US">
                    <a:noFill/>
                  </a:rPr>
                  <a:t> </a:t>
                </a:r>
              </a:p>
            </p:txBody>
          </p:sp>
        </mc:Fallback>
      </mc:AlternateContent>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14</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5827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E794D-30FB-5713-D428-C72A3BF943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0E2CF9-8F5D-87A2-29FB-B8230F3BB7F9}"/>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2F5A84CF-FD26-1DE5-CFF8-E5999ACD3C36}"/>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La técnica de Lugar geométrico de las raíces puede aplicarse a sistemas de tiempo discreto sin ninguna complicación. Con la función de transferencia en términos de Z.</a:t>
            </a:r>
          </a:p>
          <a:p>
            <a:pPr algn="just"/>
            <a:endParaRPr lang="es-ES" sz="2400" dirty="0">
              <a:latin typeface="Söhne"/>
            </a:endParaRPr>
          </a:p>
        </p:txBody>
      </p:sp>
      <p:sp>
        <p:nvSpPr>
          <p:cNvPr id="10" name="1 Título">
            <a:extLst>
              <a:ext uri="{FF2B5EF4-FFF2-40B4-BE49-F238E27FC236}">
                <a16:creationId xmlns:a16="http://schemas.microsoft.com/office/drawing/2014/main" id="{57BB6237-9F32-AB54-0B2D-AEF74EF1CAE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9ADA6EDD-1064-2559-7D33-3D60B950C5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6126B8B-35CD-5C3E-9B19-6EA567865E0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DCADD16-CE9A-1400-ADD9-21A54D6F8CAF}"/>
                  </a:ext>
                </a:extLst>
              </p:cNvPr>
              <p:cNvSpPr txBox="1"/>
              <p:nvPr/>
            </p:nvSpPr>
            <p:spPr>
              <a:xfrm>
                <a:off x="3926631" y="4142850"/>
                <a:ext cx="1290738" cy="276999"/>
              </a:xfrm>
              <a:prstGeom prst="rect">
                <a:avLst/>
              </a:prstGeom>
              <a:noFill/>
            </p:spPr>
            <p:txBody>
              <a:bodyPr wrap="none" lIns="0" tIns="0" rIns="0" bIns="0" rtlCol="0">
                <a:spAutoFit/>
              </a:bodyPr>
              <a:lstStyle/>
              <a:p>
                <a:r>
                  <a:rPr lang="es-CO" b="0" dirty="0"/>
                  <a:t>1+</a:t>
                </a:r>
                <a14:m>
                  <m:oMath xmlns:m="http://schemas.openxmlformats.org/officeDocument/2006/math">
                    <m:r>
                      <a:rPr lang="es-CO" b="0" i="1" smtClean="0">
                        <a:latin typeface="Cambria Math" panose="02040503050406030204" pitchFamily="18" charset="0"/>
                      </a:rPr>
                      <m:t>𝐺𝐻</m:t>
                    </m:r>
                    <m:d>
                      <m:dPr>
                        <m:ctrlPr>
                          <a:rPr lang="es-CO" b="0" i="1" smtClean="0">
                            <a:latin typeface="Cambria Math" panose="02040503050406030204" pitchFamily="18" charset="0"/>
                          </a:rPr>
                        </m:ctrlPr>
                      </m:dPr>
                      <m:e>
                        <m:r>
                          <a:rPr lang="es-CO" b="0" i="1" smtClean="0">
                            <a:latin typeface="Cambria Math" panose="02040503050406030204" pitchFamily="18" charset="0"/>
                          </a:rPr>
                          <m:t>𝑧</m:t>
                        </m:r>
                      </m:e>
                    </m:d>
                    <m:r>
                      <a:rPr lang="es-CO" b="0" i="1" smtClean="0">
                        <a:latin typeface="Cambria Math" panose="02040503050406030204" pitchFamily="18" charset="0"/>
                      </a:rPr>
                      <m:t>=0</m:t>
                    </m:r>
                  </m:oMath>
                </a14:m>
                <a:endParaRPr lang="en-US" dirty="0"/>
              </a:p>
            </p:txBody>
          </p:sp>
        </mc:Choice>
        <mc:Fallback xmlns="">
          <p:sp>
            <p:nvSpPr>
              <p:cNvPr id="3" name="CuadroTexto 2">
                <a:extLst>
                  <a:ext uri="{FF2B5EF4-FFF2-40B4-BE49-F238E27FC236}">
                    <a16:creationId xmlns:a16="http://schemas.microsoft.com/office/drawing/2014/main" id="{CDCADD16-CE9A-1400-ADD9-21A54D6F8CAF}"/>
                  </a:ext>
                </a:extLst>
              </p:cNvPr>
              <p:cNvSpPr txBox="1">
                <a:spLocks noRot="1" noChangeAspect="1" noMove="1" noResize="1" noEditPoints="1" noAdjustHandles="1" noChangeArrowheads="1" noChangeShapeType="1" noTextEdit="1"/>
              </p:cNvSpPr>
              <p:nvPr/>
            </p:nvSpPr>
            <p:spPr>
              <a:xfrm>
                <a:off x="3926631" y="4142850"/>
                <a:ext cx="1290738" cy="276999"/>
              </a:xfrm>
              <a:prstGeom prst="rect">
                <a:avLst/>
              </a:prstGeom>
              <a:blipFill>
                <a:blip r:embed="rId4"/>
                <a:stretch>
                  <a:fillRect l="-10849" t="-28889" r="-5660" b="-5111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D1315EA-4D37-6B37-98BA-EE1019382AD1}"/>
                  </a:ext>
                </a:extLst>
              </p:cNvPr>
              <p:cNvSpPr txBox="1"/>
              <p:nvPr/>
            </p:nvSpPr>
            <p:spPr>
              <a:xfrm>
                <a:off x="1137630" y="4717179"/>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3D1315EA-4D37-6B37-98BA-EE1019382AD1}"/>
                  </a:ext>
                </a:extLst>
              </p:cNvPr>
              <p:cNvSpPr txBox="1">
                <a:spLocks noRot="1" noChangeAspect="1" noMove="1" noResize="1" noEditPoints="1" noAdjustHandles="1" noChangeArrowheads="1" noChangeShapeType="1" noTextEdit="1"/>
              </p:cNvSpPr>
              <p:nvPr/>
            </p:nvSpPr>
            <p:spPr>
              <a:xfrm>
                <a:off x="1137630" y="4717179"/>
                <a:ext cx="6868740" cy="1014508"/>
              </a:xfrm>
              <a:prstGeom prst="rect">
                <a:avLst/>
              </a:prstGeom>
              <a:blipFill>
                <a:blip r:embed="rId5"/>
                <a:stretch>
                  <a:fillRect l="-4529" b="-7831"/>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BB0AE583-0033-8FFF-CA71-DE650587F916}"/>
              </a:ext>
            </a:extLst>
          </p:cNvPr>
          <p:cNvSpPr txBox="1"/>
          <p:nvPr/>
        </p:nvSpPr>
        <p:spPr>
          <a:xfrm>
            <a:off x="4040878" y="6029017"/>
            <a:ext cx="703719" cy="553998"/>
          </a:xfrm>
          <a:prstGeom prst="rect">
            <a:avLst/>
          </a:prstGeom>
          <a:noFill/>
        </p:spPr>
        <p:txBody>
          <a:bodyPr wrap="none" lIns="0" tIns="0" rIns="0" bIns="0" rtlCol="0">
            <a:spAutoFit/>
          </a:bodyPr>
          <a:lstStyle/>
          <a:p>
            <a:r>
              <a:rPr lang="es-CO" sz="3600" b="0" dirty="0"/>
              <a:t>K&gt;0</a:t>
            </a:r>
            <a:endParaRPr lang="en-US" sz="3600" dirty="0"/>
          </a:p>
        </p:txBody>
      </p:sp>
    </p:spTree>
    <p:extLst>
      <p:ext uri="{BB962C8B-B14F-4D97-AF65-F5344CB8AC3E}">
        <p14:creationId xmlns:p14="http://schemas.microsoft.com/office/powerpoint/2010/main" val="3942778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016C-0DA2-D476-91C1-C147A24AD8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0631D4-5DAF-DC48-ECAD-3669FA3BE2E9}"/>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FC111BC7-4128-3959-FF71-A99AFCC14F93}"/>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STEP 1</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r>
              <a:rPr lang="es-ES" sz="2400" dirty="0">
                <a:latin typeface="Söhne"/>
              </a:rPr>
              <a:t>Dibujar los ceros y los polos en el plano Z</a:t>
            </a:r>
          </a:p>
          <a:p>
            <a:pPr algn="just"/>
            <a:endParaRPr lang="es-ES" sz="2400" dirty="0">
              <a:latin typeface="Söhne"/>
            </a:endParaRPr>
          </a:p>
        </p:txBody>
      </p:sp>
      <p:sp>
        <p:nvSpPr>
          <p:cNvPr id="10" name="1 Título">
            <a:extLst>
              <a:ext uri="{FF2B5EF4-FFF2-40B4-BE49-F238E27FC236}">
                <a16:creationId xmlns:a16="http://schemas.microsoft.com/office/drawing/2014/main" id="{9F834B00-6382-0FCD-6920-1A87C655BF2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ABD31275-05A4-5C72-FC4B-9416907F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D44F55E-6D8D-11C8-ACC8-32286900912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FCC9594-5704-C69C-20E3-D22B7A8C1111}"/>
                  </a:ext>
                </a:extLst>
              </p:cNvPr>
              <p:cNvSpPr txBox="1"/>
              <p:nvPr/>
            </p:nvSpPr>
            <p:spPr>
              <a:xfrm>
                <a:off x="1032565" y="3309586"/>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5FCC9594-5704-C69C-20E3-D22B7A8C1111}"/>
                  </a:ext>
                </a:extLst>
              </p:cNvPr>
              <p:cNvSpPr txBox="1">
                <a:spLocks noRot="1" noChangeAspect="1" noMove="1" noResize="1" noEditPoints="1" noAdjustHandles="1" noChangeArrowheads="1" noChangeShapeType="1" noTextEdit="1"/>
              </p:cNvSpPr>
              <p:nvPr/>
            </p:nvSpPr>
            <p:spPr>
              <a:xfrm>
                <a:off x="1032565" y="3309586"/>
                <a:ext cx="6868740" cy="1014508"/>
              </a:xfrm>
              <a:prstGeom prst="rect">
                <a:avLst/>
              </a:prstGeom>
              <a:blipFill>
                <a:blip r:embed="rId4"/>
                <a:stretch>
                  <a:fillRect l="-4437" b="-7831"/>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F1AEBFA0-F242-135D-1F82-015A61321D90}"/>
              </a:ext>
            </a:extLst>
          </p:cNvPr>
          <p:cNvSpPr txBox="1"/>
          <p:nvPr/>
        </p:nvSpPr>
        <p:spPr>
          <a:xfrm>
            <a:off x="4040878" y="6029017"/>
            <a:ext cx="703719" cy="553998"/>
          </a:xfrm>
          <a:prstGeom prst="rect">
            <a:avLst/>
          </a:prstGeom>
          <a:noFill/>
        </p:spPr>
        <p:txBody>
          <a:bodyPr wrap="none" lIns="0" tIns="0" rIns="0" bIns="0" rtlCol="0">
            <a:spAutoFit/>
          </a:bodyPr>
          <a:lstStyle/>
          <a:p>
            <a:r>
              <a:rPr lang="es-CO" sz="3600" b="0" dirty="0"/>
              <a:t>K&gt;0</a:t>
            </a:r>
            <a:endParaRPr lang="en-US" sz="3600" dirty="0"/>
          </a:p>
        </p:txBody>
      </p:sp>
    </p:spTree>
    <p:extLst>
      <p:ext uri="{BB962C8B-B14F-4D97-AF65-F5344CB8AC3E}">
        <p14:creationId xmlns:p14="http://schemas.microsoft.com/office/powerpoint/2010/main" val="1459358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B68FB-3C93-521C-12F0-F74C998A0C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7DF9A9-7BE4-9241-B487-76AB2C0B8215}"/>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30CBB882-64B2-E80B-D588-590BC2F2973E}"/>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STEP 2</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r>
              <a:rPr lang="es-ES" sz="2400" dirty="0">
                <a:latin typeface="Söhne"/>
              </a:rPr>
              <a:t>Determinar el lugar geométrico en el eje real</a:t>
            </a:r>
          </a:p>
          <a:p>
            <a:pPr algn="just"/>
            <a:endParaRPr lang="es-ES" sz="2400" dirty="0">
              <a:latin typeface="Söhne"/>
            </a:endParaRPr>
          </a:p>
        </p:txBody>
      </p:sp>
      <p:sp>
        <p:nvSpPr>
          <p:cNvPr id="10" name="1 Título">
            <a:extLst>
              <a:ext uri="{FF2B5EF4-FFF2-40B4-BE49-F238E27FC236}">
                <a16:creationId xmlns:a16="http://schemas.microsoft.com/office/drawing/2014/main" id="{F4945F7C-A5CC-468E-A466-99D54203ED6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45905BE5-C038-F923-CEA9-D459F081A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5880359-C9C5-F505-2E8A-5BEF0E5B340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69217BD-9FA8-C579-8E04-1C32C0157A84}"/>
                  </a:ext>
                </a:extLst>
              </p:cNvPr>
              <p:cNvSpPr txBox="1"/>
              <p:nvPr/>
            </p:nvSpPr>
            <p:spPr>
              <a:xfrm>
                <a:off x="1032565" y="3309586"/>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469217BD-9FA8-C579-8E04-1C32C0157A84}"/>
                  </a:ext>
                </a:extLst>
              </p:cNvPr>
              <p:cNvSpPr txBox="1">
                <a:spLocks noRot="1" noChangeAspect="1" noMove="1" noResize="1" noEditPoints="1" noAdjustHandles="1" noChangeArrowheads="1" noChangeShapeType="1" noTextEdit="1"/>
              </p:cNvSpPr>
              <p:nvPr/>
            </p:nvSpPr>
            <p:spPr>
              <a:xfrm>
                <a:off x="1032565" y="3309586"/>
                <a:ext cx="6868740" cy="1014508"/>
              </a:xfrm>
              <a:prstGeom prst="rect">
                <a:avLst/>
              </a:prstGeom>
              <a:blipFill>
                <a:blip r:embed="rId4"/>
                <a:stretch>
                  <a:fillRect l="-4437" b="-7831"/>
                </a:stretch>
              </a:blipFill>
            </p:spPr>
            <p:txBody>
              <a:bodyPr/>
              <a:lstStyle/>
              <a:p>
                <a:r>
                  <a:rPr lang="es-CO">
                    <a:noFill/>
                  </a:rPr>
                  <a:t> </a:t>
                </a:r>
              </a:p>
            </p:txBody>
          </p:sp>
        </mc:Fallback>
      </mc:AlternateContent>
    </p:spTree>
    <p:extLst>
      <p:ext uri="{BB962C8B-B14F-4D97-AF65-F5344CB8AC3E}">
        <p14:creationId xmlns:p14="http://schemas.microsoft.com/office/powerpoint/2010/main" val="2462887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165E-D334-175F-2D9B-B61810AA89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FB399E-27B2-A91D-B770-FB9BABBAB1BD}"/>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498F0154-C96C-69BB-5F1E-EF7F6FB45800}"/>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STEP 3</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r>
              <a:rPr lang="es-ES" sz="2400" dirty="0">
                <a:latin typeface="Söhne"/>
              </a:rPr>
              <a:t>Determinar las asíntotas y sus ángulos</a:t>
            </a:r>
          </a:p>
          <a:p>
            <a:pPr algn="just"/>
            <a:endParaRPr lang="es-ES" sz="2400" dirty="0">
              <a:latin typeface="Söhne"/>
            </a:endParaRPr>
          </a:p>
          <a:p>
            <a:pPr algn="just"/>
            <a:endParaRPr lang="es-ES" sz="2400" dirty="0">
              <a:latin typeface="Söhne"/>
            </a:endParaRPr>
          </a:p>
        </p:txBody>
      </p:sp>
      <p:sp>
        <p:nvSpPr>
          <p:cNvPr id="10" name="1 Título">
            <a:extLst>
              <a:ext uri="{FF2B5EF4-FFF2-40B4-BE49-F238E27FC236}">
                <a16:creationId xmlns:a16="http://schemas.microsoft.com/office/drawing/2014/main" id="{851AF5F0-376C-D1E2-0D04-14B941C8CBA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792E08B5-DDF1-B92E-0310-7B2BDD18F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B52A1AB-BD52-3667-BD61-D73CE4F0E9C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EF8556B8-7271-C701-5532-D8276354C657}"/>
                  </a:ext>
                </a:extLst>
              </p:cNvPr>
              <p:cNvSpPr txBox="1"/>
              <p:nvPr/>
            </p:nvSpPr>
            <p:spPr>
              <a:xfrm>
                <a:off x="1032565" y="3309586"/>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EF8556B8-7271-C701-5532-D8276354C657}"/>
                  </a:ext>
                </a:extLst>
              </p:cNvPr>
              <p:cNvSpPr txBox="1">
                <a:spLocks noRot="1" noChangeAspect="1" noMove="1" noResize="1" noEditPoints="1" noAdjustHandles="1" noChangeArrowheads="1" noChangeShapeType="1" noTextEdit="1"/>
              </p:cNvSpPr>
              <p:nvPr/>
            </p:nvSpPr>
            <p:spPr>
              <a:xfrm>
                <a:off x="1032565" y="3309586"/>
                <a:ext cx="6868740" cy="1014508"/>
              </a:xfrm>
              <a:prstGeom prst="rect">
                <a:avLst/>
              </a:prstGeom>
              <a:blipFill>
                <a:blip r:embed="rId4"/>
                <a:stretch>
                  <a:fillRect l="-4437" b="-78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EA7AB84-6012-7592-0CDD-3FF2F93F4A32}"/>
                  </a:ext>
                </a:extLst>
              </p:cNvPr>
              <p:cNvSpPr txBox="1"/>
              <p:nvPr/>
            </p:nvSpPr>
            <p:spPr>
              <a:xfrm>
                <a:off x="2916831" y="5497471"/>
                <a:ext cx="3100208" cy="9380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3200" b="0" i="1" smtClean="0">
                              <a:latin typeface="Cambria Math" panose="02040503050406030204" pitchFamily="18" charset="0"/>
                            </a:rPr>
                          </m:ctrlPr>
                        </m:fPr>
                        <m:num>
                          <m:r>
                            <a:rPr lang="es-CO" sz="3200" b="0" i="0" smtClean="0">
                              <a:latin typeface="Cambria Math" panose="02040503050406030204" pitchFamily="18" charset="0"/>
                            </a:rPr>
                            <m:t>180(2</m:t>
                          </m:r>
                          <m:r>
                            <m:rPr>
                              <m:sty m:val="p"/>
                            </m:rPr>
                            <a:rPr lang="es-CO" sz="3200" b="0" i="0" smtClean="0">
                              <a:latin typeface="Cambria Math" panose="02040503050406030204" pitchFamily="18" charset="0"/>
                            </a:rPr>
                            <m:t>N</m:t>
                          </m:r>
                          <m:r>
                            <a:rPr lang="es-CO" sz="3200" b="0" i="0" smtClean="0">
                              <a:latin typeface="Cambria Math" panose="02040503050406030204" pitchFamily="18" charset="0"/>
                            </a:rPr>
                            <m:t>+1)</m:t>
                          </m:r>
                        </m:num>
                        <m:den>
                          <m:r>
                            <a:rPr lang="es-CO" sz="3200" b="0" i="1" smtClean="0">
                              <a:latin typeface="Cambria Math" panose="02040503050406030204" pitchFamily="18" charset="0"/>
                            </a:rPr>
                            <m:t>𝑛</m:t>
                          </m:r>
                          <m:r>
                            <a:rPr lang="es-CO" sz="3200" b="0" i="1" smtClean="0">
                              <a:latin typeface="Cambria Math" panose="02040503050406030204" pitchFamily="18" charset="0"/>
                            </a:rPr>
                            <m:t>−</m:t>
                          </m:r>
                          <m:r>
                            <a:rPr lang="es-CO" sz="3200" b="0" i="1" smtClean="0">
                              <a:latin typeface="Cambria Math" panose="02040503050406030204" pitchFamily="18" charset="0"/>
                            </a:rPr>
                            <m:t>𝑚</m:t>
                          </m:r>
                        </m:den>
                      </m:f>
                      <m:r>
                        <a:rPr lang="es-CO" sz="3200" b="0" i="1" smtClean="0">
                          <a:latin typeface="Cambria Math" panose="02040503050406030204" pitchFamily="18" charset="0"/>
                        </a:rPr>
                        <m:t>=0</m:t>
                      </m:r>
                    </m:oMath>
                  </m:oMathPara>
                </a14:m>
                <a:endParaRPr lang="en-US" sz="3600" dirty="0"/>
              </a:p>
            </p:txBody>
          </p:sp>
        </mc:Choice>
        <mc:Fallback xmlns="">
          <p:sp>
            <p:nvSpPr>
              <p:cNvPr id="3" name="CuadroTexto 2">
                <a:extLst>
                  <a:ext uri="{FF2B5EF4-FFF2-40B4-BE49-F238E27FC236}">
                    <a16:creationId xmlns:a16="http://schemas.microsoft.com/office/drawing/2014/main" id="{0EA7AB84-6012-7592-0CDD-3FF2F93F4A32}"/>
                  </a:ext>
                </a:extLst>
              </p:cNvPr>
              <p:cNvSpPr txBox="1">
                <a:spLocks noRot="1" noChangeAspect="1" noMove="1" noResize="1" noEditPoints="1" noAdjustHandles="1" noChangeArrowheads="1" noChangeShapeType="1" noTextEdit="1"/>
              </p:cNvSpPr>
              <p:nvPr/>
            </p:nvSpPr>
            <p:spPr>
              <a:xfrm>
                <a:off x="2916831" y="5497471"/>
                <a:ext cx="3100208" cy="938014"/>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4269032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825B-0DA2-69DF-E7BC-6CBD6C3A932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F3CD28-FC29-3E3C-17C7-3A3E5F285C8A}"/>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2BDC00C8-6C12-D15C-D0E6-1C7D43E73914}"/>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STEP 4</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r>
              <a:rPr lang="es-ES" sz="2400" dirty="0">
                <a:latin typeface="Söhne"/>
              </a:rPr>
              <a:t>Determinar la intersección de las asíntotas con el eje real</a:t>
            </a:r>
          </a:p>
          <a:p>
            <a:pPr algn="just"/>
            <a:endParaRPr lang="es-ES" sz="2400" dirty="0">
              <a:latin typeface="Söhne"/>
            </a:endParaRPr>
          </a:p>
          <a:p>
            <a:pPr algn="just"/>
            <a:endParaRPr lang="es-ES" sz="2400" dirty="0">
              <a:latin typeface="Söhne"/>
            </a:endParaRPr>
          </a:p>
        </p:txBody>
      </p:sp>
      <p:sp>
        <p:nvSpPr>
          <p:cNvPr id="10" name="1 Título">
            <a:extLst>
              <a:ext uri="{FF2B5EF4-FFF2-40B4-BE49-F238E27FC236}">
                <a16:creationId xmlns:a16="http://schemas.microsoft.com/office/drawing/2014/main" id="{687D1409-B1C7-D97F-C92D-CDDC8EAA5EA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19</a:t>
            </a:r>
          </a:p>
        </p:txBody>
      </p:sp>
      <p:pic>
        <p:nvPicPr>
          <p:cNvPr id="14" name="Picture 4" descr="Programas - Intranet ETITC">
            <a:extLst>
              <a:ext uri="{FF2B5EF4-FFF2-40B4-BE49-F238E27FC236}">
                <a16:creationId xmlns:a16="http://schemas.microsoft.com/office/drawing/2014/main" id="{B7A9CCF8-7B08-471E-69F5-AD27DA46B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A37A154-C0B9-1C16-40B3-A19A85C46E9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565927A-ED39-27A1-66C6-EA080D84C1D9}"/>
                  </a:ext>
                </a:extLst>
              </p:cNvPr>
              <p:cNvSpPr txBox="1"/>
              <p:nvPr/>
            </p:nvSpPr>
            <p:spPr>
              <a:xfrm>
                <a:off x="1032565" y="3309586"/>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C565927A-ED39-27A1-66C6-EA080D84C1D9}"/>
                  </a:ext>
                </a:extLst>
              </p:cNvPr>
              <p:cNvSpPr txBox="1">
                <a:spLocks noRot="1" noChangeAspect="1" noMove="1" noResize="1" noEditPoints="1" noAdjustHandles="1" noChangeArrowheads="1" noChangeShapeType="1" noTextEdit="1"/>
              </p:cNvSpPr>
              <p:nvPr/>
            </p:nvSpPr>
            <p:spPr>
              <a:xfrm>
                <a:off x="1032565" y="3309586"/>
                <a:ext cx="6868740" cy="1014508"/>
              </a:xfrm>
              <a:prstGeom prst="rect">
                <a:avLst/>
              </a:prstGeom>
              <a:blipFill>
                <a:blip r:embed="rId4"/>
                <a:stretch>
                  <a:fillRect l="-4437" b="-78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AEDE179-9921-63FE-81C9-EC3CC8666E28}"/>
                  </a:ext>
                </a:extLst>
              </p:cNvPr>
              <p:cNvSpPr txBox="1"/>
              <p:nvPr/>
            </p:nvSpPr>
            <p:spPr>
              <a:xfrm>
                <a:off x="3207140" y="5731687"/>
                <a:ext cx="2370008"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b="0" i="1" smtClean="0">
                              <a:latin typeface="Cambria Math" panose="02040503050406030204" pitchFamily="18" charset="0"/>
                            </a:rPr>
                          </m:ctrlPr>
                        </m:sSubPr>
                        <m:e>
                          <m:r>
                            <a:rPr lang="es-CO" b="0" i="1" smtClean="0">
                              <a:latin typeface="Cambria Math" panose="02040503050406030204" pitchFamily="18" charset="0"/>
                            </a:rPr>
                            <m:t>−</m:t>
                          </m:r>
                          <m:r>
                            <a:rPr lang="en-US" i="1" smtClean="0">
                              <a:latin typeface="Cambria Math" panose="02040503050406030204" pitchFamily="18" charset="0"/>
                            </a:rPr>
                            <m:t>𝞼</m:t>
                          </m:r>
                        </m:e>
                        <m:sub>
                          <m:r>
                            <a:rPr lang="es-CO" b="0" i="1" smtClean="0">
                              <a:latin typeface="Cambria Math" panose="02040503050406030204" pitchFamily="18" charset="0"/>
                            </a:rPr>
                            <m:t>𝑖</m:t>
                          </m:r>
                        </m:sub>
                      </m:sSub>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i="1">
                              <a:latin typeface="Cambria Math" panose="02040503050406030204" pitchFamily="18" charset="0"/>
                            </a:rPr>
                            <m:t>𝛴</m:t>
                          </m:r>
                          <m:r>
                            <a:rPr lang="es-CO" i="1">
                              <a:latin typeface="Cambria Math" panose="02040503050406030204" pitchFamily="18" charset="0"/>
                            </a:rPr>
                            <m:t>𝑝𝑜𝑙𝑜𝑠</m:t>
                          </m:r>
                          <m:r>
                            <a:rPr lang="es-CO" i="1">
                              <a:latin typeface="Cambria Math" panose="02040503050406030204" pitchFamily="18" charset="0"/>
                            </a:rPr>
                            <m:t>−</m:t>
                          </m:r>
                          <m:r>
                            <a:rPr lang="es-CO" i="1">
                              <a:latin typeface="Cambria Math" panose="02040503050406030204" pitchFamily="18" charset="0"/>
                            </a:rPr>
                            <m:t>𝛴</m:t>
                          </m:r>
                          <m:r>
                            <a:rPr lang="es-CO" b="0" i="1" smtClean="0">
                              <a:latin typeface="Cambria Math" panose="02040503050406030204" pitchFamily="18" charset="0"/>
                            </a:rPr>
                            <m:t>𝑐𝑒𝑟𝑜𝑠</m:t>
                          </m:r>
                        </m:num>
                        <m:den>
                          <m:r>
                            <a:rPr lang="es-CO" b="0" i="1" smtClean="0">
                              <a:latin typeface="Cambria Math" panose="02040503050406030204" pitchFamily="18" charset="0"/>
                            </a:rPr>
                            <m:t>𝑛</m:t>
                          </m:r>
                          <m:r>
                            <a:rPr lang="es-CO" b="0" i="1" smtClean="0">
                              <a:latin typeface="Cambria Math" panose="02040503050406030204" pitchFamily="18" charset="0"/>
                            </a:rPr>
                            <m:t>−</m:t>
                          </m:r>
                          <m:r>
                            <a:rPr lang="es-CO" b="0" i="1" smtClean="0">
                              <a:latin typeface="Cambria Math" panose="02040503050406030204" pitchFamily="18" charset="0"/>
                            </a:rPr>
                            <m:t>𝑚</m:t>
                          </m:r>
                        </m:den>
                      </m:f>
                    </m:oMath>
                  </m:oMathPara>
                </a14:m>
                <a:endParaRPr lang="en-US" dirty="0"/>
              </a:p>
            </p:txBody>
          </p:sp>
        </mc:Choice>
        <mc:Fallback xmlns="">
          <p:sp>
            <p:nvSpPr>
              <p:cNvPr id="7" name="CuadroTexto 6">
                <a:extLst>
                  <a:ext uri="{FF2B5EF4-FFF2-40B4-BE49-F238E27FC236}">
                    <a16:creationId xmlns:a16="http://schemas.microsoft.com/office/drawing/2014/main" id="{6AEDE179-9921-63FE-81C9-EC3CC8666E28}"/>
                  </a:ext>
                </a:extLst>
              </p:cNvPr>
              <p:cNvSpPr txBox="1">
                <a:spLocks noRot="1" noChangeAspect="1" noMove="1" noResize="1" noEditPoints="1" noAdjustHandles="1" noChangeArrowheads="1" noChangeShapeType="1" noTextEdit="1"/>
              </p:cNvSpPr>
              <p:nvPr/>
            </p:nvSpPr>
            <p:spPr>
              <a:xfrm>
                <a:off x="3207140" y="5731687"/>
                <a:ext cx="2370008" cy="525913"/>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088929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1C1F-57DF-360C-55EF-C6FB2D7B3A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E7163A-2D62-511C-3DEA-496F2F8DD0AC}"/>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89158C8B-D933-028D-8B51-5F167ECF0230}"/>
              </a:ext>
            </a:extLst>
          </p:cNvPr>
          <p:cNvSpPr>
            <a:spLocks noGrp="1"/>
          </p:cNvSpPr>
          <p:nvPr>
            <p:ph type="body" sz="half" idx="2"/>
          </p:nvPr>
        </p:nvSpPr>
        <p:spPr>
          <a:xfrm>
            <a:off x="1032565" y="2288364"/>
            <a:ext cx="7576605" cy="3443324"/>
          </a:xfrm>
        </p:spPr>
        <p:txBody>
          <a:bodyPr>
            <a:normAutofit/>
          </a:bodyPr>
          <a:lstStyle/>
          <a:p>
            <a:pPr algn="just"/>
            <a:endParaRPr lang="es-ES" sz="2400" dirty="0">
              <a:latin typeface="Söhne"/>
            </a:endParaRPr>
          </a:p>
          <a:p>
            <a:pPr algn="just"/>
            <a:r>
              <a:rPr lang="es-ES" sz="2400" dirty="0">
                <a:latin typeface="Söhne"/>
              </a:rPr>
              <a:t>STEP 5</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r>
              <a:rPr lang="es-ES" sz="2400" dirty="0">
                <a:latin typeface="Söhne"/>
              </a:rPr>
              <a:t>Encontrar los puntos de ruptura</a:t>
            </a:r>
          </a:p>
          <a:p>
            <a:pPr algn="just"/>
            <a:endParaRPr lang="es-ES" sz="2400" dirty="0">
              <a:latin typeface="Söhne"/>
            </a:endParaRPr>
          </a:p>
          <a:p>
            <a:pPr algn="just"/>
            <a:endParaRPr lang="es-ES" sz="2400" dirty="0">
              <a:latin typeface="Söhne"/>
            </a:endParaRPr>
          </a:p>
        </p:txBody>
      </p:sp>
      <p:sp>
        <p:nvSpPr>
          <p:cNvPr id="10" name="1 Título">
            <a:extLst>
              <a:ext uri="{FF2B5EF4-FFF2-40B4-BE49-F238E27FC236}">
                <a16:creationId xmlns:a16="http://schemas.microsoft.com/office/drawing/2014/main" id="{EE04E726-D81B-41F3-D091-5C6E2D150179}"/>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20</a:t>
            </a:r>
          </a:p>
        </p:txBody>
      </p:sp>
      <p:pic>
        <p:nvPicPr>
          <p:cNvPr id="14" name="Picture 4" descr="Programas - Intranet ETITC">
            <a:extLst>
              <a:ext uri="{FF2B5EF4-FFF2-40B4-BE49-F238E27FC236}">
                <a16:creationId xmlns:a16="http://schemas.microsoft.com/office/drawing/2014/main" id="{179B2C8A-6E83-9D41-D0C5-D24425179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24352F7-303E-FBF6-F360-416F8B9E864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DA59D39-F1BA-8D8B-873C-A47997BCFE1A}"/>
                  </a:ext>
                </a:extLst>
              </p:cNvPr>
              <p:cNvSpPr txBox="1"/>
              <p:nvPr/>
            </p:nvSpPr>
            <p:spPr>
              <a:xfrm>
                <a:off x="1032565" y="3309586"/>
                <a:ext cx="6868740" cy="1014508"/>
              </a:xfrm>
              <a:prstGeom prst="rect">
                <a:avLst/>
              </a:prstGeom>
              <a:noFill/>
            </p:spPr>
            <p:txBody>
              <a:bodyPr wrap="none" lIns="0" tIns="0" rIns="0" bIns="0" rtlCol="0">
                <a:spAutoFit/>
              </a:bodyPr>
              <a:lstStyle/>
              <a:p>
                <a:r>
                  <a:rPr lang="es-CO" sz="4000" b="0" dirty="0"/>
                  <a:t>1+</a:t>
                </a:r>
                <a14:m>
                  <m:oMath xmlns:m="http://schemas.openxmlformats.org/officeDocument/2006/math">
                    <m:f>
                      <m:fPr>
                        <m:ctrlPr>
                          <a:rPr lang="es-CO" sz="4000" b="0" i="1" smtClean="0">
                            <a:latin typeface="Cambria Math" panose="02040503050406030204" pitchFamily="18" charset="0"/>
                          </a:rPr>
                        </m:ctrlPr>
                      </m:fPr>
                      <m:num>
                        <m:r>
                          <a:rPr lang="es-CO" sz="4000" b="0" i="1" smtClean="0">
                            <a:latin typeface="Cambria Math" panose="02040503050406030204" pitchFamily="18" charset="0"/>
                          </a:rPr>
                          <m:t>𝐾</m:t>
                        </m:r>
                        <m:d>
                          <m:dPr>
                            <m:ctrlPr>
                              <a:rPr lang="es-CO" sz="4000" b="0" i="1" smtClean="0">
                                <a:latin typeface="Cambria Math" panose="02040503050406030204" pitchFamily="18" charset="0"/>
                              </a:rPr>
                            </m:ctrlPr>
                          </m:dPr>
                          <m:e>
                            <m:r>
                              <a:rPr lang="es-CO" sz="4000" b="0" i="1" smtClean="0">
                                <a:latin typeface="Cambria Math" panose="02040503050406030204" pitchFamily="18" charset="0"/>
                              </a:rPr>
                              <m:t>𝑧</m:t>
                            </m:r>
                            <m:r>
                              <a:rPr lang="es-CO" sz="4000" b="0" i="1" smtClean="0">
                                <a:latin typeface="Cambria Math" panose="02040503050406030204" pitchFamily="18" charset="0"/>
                              </a:rPr>
                              <m:t>+</m:t>
                            </m:r>
                            <m:sSub>
                              <m:sSubPr>
                                <m:ctrlPr>
                                  <a:rPr lang="es-CO" sz="4000" b="0" i="1" smtClean="0">
                                    <a:latin typeface="Cambria Math" panose="02040503050406030204" pitchFamily="18" charset="0"/>
                                  </a:rPr>
                                </m:ctrlPr>
                              </m:sSubPr>
                              <m:e>
                                <m:r>
                                  <a:rPr lang="es-CO" sz="4000" b="0" i="1" smtClean="0">
                                    <a:latin typeface="Cambria Math" panose="02040503050406030204" pitchFamily="18" charset="0"/>
                                  </a:rPr>
                                  <m:t>𝑧</m:t>
                                </m:r>
                              </m:e>
                              <m:sub>
                                <m:r>
                                  <a:rPr lang="es-CO" sz="4000" b="0" i="1" smtClean="0">
                                    <a:latin typeface="Cambria Math" panose="02040503050406030204" pitchFamily="18" charset="0"/>
                                  </a:rPr>
                                  <m:t>1</m:t>
                                </m:r>
                              </m:sub>
                            </m:sSub>
                          </m:e>
                        </m:d>
                        <m:d>
                          <m:dPr>
                            <m:ctrlPr>
                              <a:rPr lang="es-CO" sz="4000" b="0" i="1" smtClean="0">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𝑧</m:t>
                            </m:r>
                          </m:e>
                          <m:sub>
                            <m:r>
                              <a:rPr lang="es-CO" sz="4000" b="0" i="1" smtClean="0">
                                <a:latin typeface="Cambria Math" panose="02040503050406030204" pitchFamily="18" charset="0"/>
                              </a:rPr>
                              <m:t>𝑚</m:t>
                            </m:r>
                          </m:sub>
                        </m:sSub>
                        <m:r>
                          <a:rPr lang="es-CO" sz="4000" i="1">
                            <a:latin typeface="Cambria Math" panose="02040503050406030204" pitchFamily="18" charset="0"/>
                          </a:rPr>
                          <m:t>)</m:t>
                        </m:r>
                      </m:num>
                      <m:den>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b="0" i="1" smtClean="0">
                                    <a:latin typeface="Cambria Math" panose="02040503050406030204" pitchFamily="18" charset="0"/>
                                  </a:rPr>
                                  <m:t>𝑃</m:t>
                                </m:r>
                              </m:e>
                              <m:sub>
                                <m:r>
                                  <a:rPr lang="es-CO" sz="4000" i="1">
                                    <a:latin typeface="Cambria Math" panose="02040503050406030204" pitchFamily="18" charset="0"/>
                                  </a:rPr>
                                  <m:t>1</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2</m:t>
                                </m:r>
                              </m:sub>
                            </m:sSub>
                          </m:e>
                        </m:d>
                        <m:d>
                          <m:dPr>
                            <m:ctrlPr>
                              <a:rPr lang="es-CO" sz="4000" i="1">
                                <a:latin typeface="Cambria Math" panose="02040503050406030204" pitchFamily="18" charset="0"/>
                              </a:rPr>
                            </m:ctrlPr>
                          </m:dPr>
                          <m:e>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3</m:t>
                                </m:r>
                              </m:sub>
                            </m:sSub>
                          </m:e>
                        </m:d>
                        <m:r>
                          <a:rPr lang="es-CO" sz="4000" b="0" i="1" smtClean="0">
                            <a:latin typeface="Cambria Math" panose="02040503050406030204" pitchFamily="18" charset="0"/>
                          </a:rPr>
                          <m:t>…</m:t>
                        </m:r>
                        <m:r>
                          <a:rPr lang="es-CO" sz="4000" i="1">
                            <a:latin typeface="Cambria Math" panose="02040503050406030204" pitchFamily="18" charset="0"/>
                          </a:rPr>
                          <m:t>(</m:t>
                        </m:r>
                        <m:r>
                          <a:rPr lang="es-CO" sz="4000" i="1">
                            <a:latin typeface="Cambria Math" panose="02040503050406030204" pitchFamily="18" charset="0"/>
                          </a:rPr>
                          <m:t>𝑧</m:t>
                        </m:r>
                        <m:r>
                          <a:rPr lang="es-CO" sz="4000" i="1">
                            <a:latin typeface="Cambria Math" panose="02040503050406030204" pitchFamily="18" charset="0"/>
                          </a:rPr>
                          <m:t>+</m:t>
                        </m:r>
                        <m:sSub>
                          <m:sSubPr>
                            <m:ctrlPr>
                              <a:rPr lang="es-CO" sz="4000" i="1">
                                <a:latin typeface="Cambria Math" panose="02040503050406030204" pitchFamily="18" charset="0"/>
                              </a:rPr>
                            </m:ctrlPr>
                          </m:sSubPr>
                          <m:e>
                            <m:r>
                              <a:rPr lang="es-CO" sz="4000" i="1">
                                <a:latin typeface="Cambria Math" panose="02040503050406030204" pitchFamily="18" charset="0"/>
                              </a:rPr>
                              <m:t>𝑃</m:t>
                            </m:r>
                          </m:e>
                          <m:sub>
                            <m:r>
                              <a:rPr lang="es-CO" sz="4000" b="0" i="1" smtClean="0">
                                <a:latin typeface="Cambria Math" panose="02040503050406030204" pitchFamily="18" charset="0"/>
                              </a:rPr>
                              <m:t>𝑛</m:t>
                            </m:r>
                          </m:sub>
                        </m:sSub>
                        <m:r>
                          <a:rPr lang="es-CO" sz="4000" i="1">
                            <a:latin typeface="Cambria Math" panose="02040503050406030204" pitchFamily="18" charset="0"/>
                          </a:rPr>
                          <m:t>)</m:t>
                        </m:r>
                      </m:den>
                    </m:f>
                    <m:r>
                      <a:rPr lang="es-CO" sz="4000" b="0" i="1" smtClean="0">
                        <a:latin typeface="Cambria Math" panose="02040503050406030204" pitchFamily="18" charset="0"/>
                      </a:rPr>
                      <m:t>=0</m:t>
                    </m:r>
                  </m:oMath>
                </a14:m>
                <a:endParaRPr lang="en-US" sz="4000" dirty="0"/>
              </a:p>
            </p:txBody>
          </p:sp>
        </mc:Choice>
        <mc:Fallback xmlns="">
          <p:sp>
            <p:nvSpPr>
              <p:cNvPr id="6" name="CuadroTexto 5">
                <a:extLst>
                  <a:ext uri="{FF2B5EF4-FFF2-40B4-BE49-F238E27FC236}">
                    <a16:creationId xmlns:a16="http://schemas.microsoft.com/office/drawing/2014/main" id="{ADA59D39-F1BA-8D8B-873C-A47997BCFE1A}"/>
                  </a:ext>
                </a:extLst>
              </p:cNvPr>
              <p:cNvSpPr txBox="1">
                <a:spLocks noRot="1" noChangeAspect="1" noMove="1" noResize="1" noEditPoints="1" noAdjustHandles="1" noChangeArrowheads="1" noChangeShapeType="1" noTextEdit="1"/>
              </p:cNvSpPr>
              <p:nvPr/>
            </p:nvSpPr>
            <p:spPr>
              <a:xfrm>
                <a:off x="1032565" y="3309586"/>
                <a:ext cx="6868740" cy="1014508"/>
              </a:xfrm>
              <a:prstGeom prst="rect">
                <a:avLst/>
              </a:prstGeom>
              <a:blipFill>
                <a:blip r:embed="rId4"/>
                <a:stretch>
                  <a:fillRect l="-4437" b="-783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12CFB53-B3CE-5C31-B8A8-95046143617A}"/>
                  </a:ext>
                </a:extLst>
              </p:cNvPr>
              <p:cNvSpPr txBox="1"/>
              <p:nvPr/>
            </p:nvSpPr>
            <p:spPr>
              <a:xfrm>
                <a:off x="4727595" y="5731688"/>
                <a:ext cx="1191416"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latin typeface="Cambria Math" panose="02040503050406030204" pitchFamily="18" charset="0"/>
                        </a:rPr>
                        <m:t>𝐾</m:t>
                      </m:r>
                      <m:r>
                        <a:rPr lang="es-CO" b="0" i="1" smtClean="0">
                          <a:latin typeface="Cambria Math" panose="02040503050406030204" pitchFamily="18" charset="0"/>
                        </a:rPr>
                        <m:t>=−</m:t>
                      </m:r>
                      <m:f>
                        <m:fPr>
                          <m:ctrlPr>
                            <a:rPr lang="es-CO" b="0" i="1" smtClean="0">
                              <a:latin typeface="Cambria Math" panose="02040503050406030204" pitchFamily="18" charset="0"/>
                            </a:rPr>
                          </m:ctrlPr>
                        </m:fPr>
                        <m:num>
                          <m:r>
                            <a:rPr lang="es-CO" i="1" smtClean="0">
                              <a:latin typeface="Cambria Math" panose="02040503050406030204" pitchFamily="18" charset="0"/>
                            </a:rPr>
                            <m:t>𝐴</m:t>
                          </m:r>
                          <m:r>
                            <a:rPr lang="es-CO" b="0" i="1" smtClean="0">
                              <a:latin typeface="Cambria Math" panose="02040503050406030204" pitchFamily="18" charset="0"/>
                            </a:rPr>
                            <m:t>(</m:t>
                          </m:r>
                          <m:r>
                            <a:rPr lang="es-CO" b="0" i="1" smtClean="0">
                              <a:latin typeface="Cambria Math" panose="02040503050406030204" pitchFamily="18" charset="0"/>
                            </a:rPr>
                            <m:t>𝑧</m:t>
                          </m:r>
                          <m:r>
                            <a:rPr lang="es-CO" b="0" i="1" smtClean="0">
                              <a:latin typeface="Cambria Math" panose="02040503050406030204" pitchFamily="18" charset="0"/>
                            </a:rPr>
                            <m:t>)</m:t>
                          </m:r>
                        </m:num>
                        <m:den>
                          <m:r>
                            <a:rPr lang="es-CO" b="0" i="1" smtClean="0">
                              <a:latin typeface="Cambria Math" panose="02040503050406030204" pitchFamily="18" charset="0"/>
                            </a:rPr>
                            <m:t>𝐵</m:t>
                          </m:r>
                          <m:r>
                            <a:rPr lang="es-CO" b="0" i="1" smtClean="0">
                              <a:latin typeface="Cambria Math" panose="02040503050406030204" pitchFamily="18" charset="0"/>
                            </a:rPr>
                            <m:t>(</m:t>
                          </m:r>
                          <m:r>
                            <a:rPr lang="es-CO" b="0" i="1" smtClean="0">
                              <a:latin typeface="Cambria Math" panose="02040503050406030204" pitchFamily="18" charset="0"/>
                            </a:rPr>
                            <m:t>𝑧</m:t>
                          </m:r>
                          <m:r>
                            <a:rPr lang="es-CO" b="0" i="1" smtClean="0">
                              <a:latin typeface="Cambria Math" panose="02040503050406030204" pitchFamily="18" charset="0"/>
                            </a:rPr>
                            <m:t>)</m:t>
                          </m:r>
                        </m:den>
                      </m:f>
                    </m:oMath>
                  </m:oMathPara>
                </a14:m>
                <a:endParaRPr lang="en-US" dirty="0"/>
              </a:p>
            </p:txBody>
          </p:sp>
        </mc:Choice>
        <mc:Fallback xmlns="">
          <p:sp>
            <p:nvSpPr>
              <p:cNvPr id="7" name="CuadroTexto 6">
                <a:extLst>
                  <a:ext uri="{FF2B5EF4-FFF2-40B4-BE49-F238E27FC236}">
                    <a16:creationId xmlns:a16="http://schemas.microsoft.com/office/drawing/2014/main" id="{C12CFB53-B3CE-5C31-B8A8-95046143617A}"/>
                  </a:ext>
                </a:extLst>
              </p:cNvPr>
              <p:cNvSpPr txBox="1">
                <a:spLocks noRot="1" noChangeAspect="1" noMove="1" noResize="1" noEditPoints="1" noAdjustHandles="1" noChangeArrowheads="1" noChangeShapeType="1" noTextEdit="1"/>
              </p:cNvSpPr>
              <p:nvPr/>
            </p:nvSpPr>
            <p:spPr>
              <a:xfrm>
                <a:off x="4727595" y="5731688"/>
                <a:ext cx="1191416" cy="576761"/>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CA88E72-0217-BCA6-3378-7C6A69D2EE8B}"/>
                  </a:ext>
                </a:extLst>
              </p:cNvPr>
              <p:cNvSpPr txBox="1"/>
              <p:nvPr/>
            </p:nvSpPr>
            <p:spPr>
              <a:xfrm>
                <a:off x="2267744" y="5782471"/>
                <a:ext cx="784446"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b="0" i="1" smtClean="0">
                              <a:solidFill>
                                <a:schemeClr val="tx1"/>
                              </a:solidFill>
                              <a:latin typeface="Cambria Math" panose="02040503050406030204" pitchFamily="18" charset="0"/>
                            </a:rPr>
                          </m:ctrlPr>
                        </m:fPr>
                        <m:num>
                          <m:r>
                            <a:rPr lang="es-CO" i="1" smtClean="0">
                              <a:latin typeface="Cambria Math" panose="02040503050406030204" pitchFamily="18" charset="0"/>
                            </a:rPr>
                            <m:t>𝑑</m:t>
                          </m:r>
                          <m:r>
                            <a:rPr lang="es-CO" b="0" i="1" smtClean="0">
                              <a:latin typeface="Cambria Math" panose="02040503050406030204" pitchFamily="18" charset="0"/>
                            </a:rPr>
                            <m:t>𝐾</m:t>
                          </m:r>
                        </m:num>
                        <m:den>
                          <m:r>
                            <a:rPr lang="es-CO" b="0" i="1" smtClean="0">
                              <a:latin typeface="Cambria Math" panose="02040503050406030204" pitchFamily="18" charset="0"/>
                            </a:rPr>
                            <m:t>𝑑𝑧</m:t>
                          </m:r>
                        </m:den>
                      </m:f>
                      <m:r>
                        <a:rPr lang="es-CO" b="0" i="1" smtClean="0">
                          <a:solidFill>
                            <a:schemeClr val="tx1"/>
                          </a:solidFill>
                          <a:latin typeface="Cambria Math" panose="02040503050406030204" pitchFamily="18" charset="0"/>
                        </a:rPr>
                        <m:t>=0</m:t>
                      </m:r>
                    </m:oMath>
                  </m:oMathPara>
                </a14:m>
                <a:endParaRPr lang="en-US" dirty="0"/>
              </a:p>
            </p:txBody>
          </p:sp>
        </mc:Choice>
        <mc:Fallback xmlns="">
          <p:sp>
            <p:nvSpPr>
              <p:cNvPr id="3" name="CuadroTexto 2">
                <a:extLst>
                  <a:ext uri="{FF2B5EF4-FFF2-40B4-BE49-F238E27FC236}">
                    <a16:creationId xmlns:a16="http://schemas.microsoft.com/office/drawing/2014/main" id="{7CA88E72-0217-BCA6-3378-7C6A69D2EE8B}"/>
                  </a:ext>
                </a:extLst>
              </p:cNvPr>
              <p:cNvSpPr txBox="1">
                <a:spLocks noRot="1" noChangeAspect="1" noMove="1" noResize="1" noEditPoints="1" noAdjustHandles="1" noChangeArrowheads="1" noChangeShapeType="1" noTextEdit="1"/>
              </p:cNvSpPr>
              <p:nvPr/>
            </p:nvSpPr>
            <p:spPr>
              <a:xfrm>
                <a:off x="2267744" y="5782471"/>
                <a:ext cx="784446" cy="525978"/>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443974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821F2-DF62-FE74-1F98-6F0B5CDAF3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5E0282-58A0-6A6F-0782-E3A2DDE32F1C}"/>
              </a:ext>
            </a:extLst>
          </p:cNvPr>
          <p:cNvSpPr>
            <a:spLocks noGrp="1"/>
          </p:cNvSpPr>
          <p:nvPr>
            <p:ph type="title"/>
          </p:nvPr>
        </p:nvSpPr>
        <p:spPr>
          <a:xfrm>
            <a:off x="1032565" y="1126313"/>
            <a:ext cx="3008313" cy="1162050"/>
          </a:xfrm>
        </p:spPr>
        <p:txBody>
          <a:bodyPr/>
          <a:lstStyle/>
          <a:p>
            <a:r>
              <a:rPr lang="es-CO" b="1" dirty="0"/>
              <a:t>LGR</a:t>
            </a:r>
          </a:p>
        </p:txBody>
      </p:sp>
      <p:sp>
        <p:nvSpPr>
          <p:cNvPr id="4" name="Marcador de texto 3">
            <a:extLst>
              <a:ext uri="{FF2B5EF4-FFF2-40B4-BE49-F238E27FC236}">
                <a16:creationId xmlns:a16="http://schemas.microsoft.com/office/drawing/2014/main" id="{75FC2678-8359-6C84-8192-C4AC7F316D0F}"/>
              </a:ext>
            </a:extLst>
          </p:cNvPr>
          <p:cNvSpPr>
            <a:spLocks noGrp="1"/>
          </p:cNvSpPr>
          <p:nvPr>
            <p:ph type="body" sz="half" idx="2"/>
          </p:nvPr>
        </p:nvSpPr>
        <p:spPr>
          <a:xfrm>
            <a:off x="1032565" y="2288364"/>
            <a:ext cx="7576605" cy="3443324"/>
          </a:xfrm>
        </p:spPr>
        <p:txBody>
          <a:bodyPr>
            <a:normAutofit lnSpcReduction="10000"/>
          </a:bodyPr>
          <a:lstStyle/>
          <a:p>
            <a:pPr algn="just"/>
            <a:endParaRPr lang="es-ES" sz="2400" dirty="0">
              <a:latin typeface="Söhne"/>
            </a:endParaRPr>
          </a:p>
          <a:p>
            <a:pPr algn="just"/>
            <a:r>
              <a:rPr lang="es-ES" sz="2400" dirty="0">
                <a:latin typeface="Söhne"/>
              </a:rPr>
              <a:t>STEP 6</a:t>
            </a: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just"/>
            <a:endParaRPr lang="es-ES" sz="2400" dirty="0">
              <a:latin typeface="Söhne"/>
            </a:endParaRPr>
          </a:p>
          <a:p>
            <a:pPr algn="l"/>
            <a:r>
              <a:rPr lang="es-ES" sz="1600" dirty="0"/>
              <a:t>Encontrar K donde el sistema es estable</a:t>
            </a:r>
          </a:p>
          <a:p>
            <a:pPr algn="l"/>
            <a:r>
              <a:rPr lang="es-ES" sz="1600" dirty="0"/>
              <a:t> y la</a:t>
            </a:r>
          </a:p>
          <a:p>
            <a:pPr algn="l"/>
            <a:r>
              <a:rPr lang="es-ES" sz="1600" dirty="0"/>
              <a:t>Intersección eje </a:t>
            </a:r>
            <a:r>
              <a:rPr lang="es-ES" sz="1600" dirty="0" err="1"/>
              <a:t>Im</a:t>
            </a:r>
            <a:r>
              <a:rPr lang="es-ES" sz="1600" dirty="0"/>
              <a:t> mediante JURY</a:t>
            </a:r>
          </a:p>
          <a:p>
            <a:pPr algn="just"/>
            <a:endParaRPr lang="es-ES" sz="2400" dirty="0">
              <a:latin typeface="Söhne"/>
            </a:endParaRPr>
          </a:p>
          <a:p>
            <a:pPr algn="just"/>
            <a:endParaRPr lang="es-ES" sz="2400" dirty="0">
              <a:latin typeface="Söhne"/>
            </a:endParaRPr>
          </a:p>
        </p:txBody>
      </p:sp>
      <p:sp>
        <p:nvSpPr>
          <p:cNvPr id="10" name="1 Título">
            <a:extLst>
              <a:ext uri="{FF2B5EF4-FFF2-40B4-BE49-F238E27FC236}">
                <a16:creationId xmlns:a16="http://schemas.microsoft.com/office/drawing/2014/main" id="{9A93EE08-2494-6288-81C9-228B34A5276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21</a:t>
            </a:r>
          </a:p>
        </p:txBody>
      </p:sp>
      <p:pic>
        <p:nvPicPr>
          <p:cNvPr id="14" name="Picture 4" descr="Programas - Intranet ETITC">
            <a:extLst>
              <a:ext uri="{FF2B5EF4-FFF2-40B4-BE49-F238E27FC236}">
                <a16:creationId xmlns:a16="http://schemas.microsoft.com/office/drawing/2014/main" id="{C20E44AF-6023-FEB2-3B91-CCD555A6C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263B854-B27D-1240-BABD-31E825506A4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A85B08-41DD-FBEE-63C8-AEC4EDD531F9}"/>
                  </a:ext>
                </a:extLst>
              </p:cNvPr>
              <p:cNvSpPr txBox="1"/>
              <p:nvPr/>
            </p:nvSpPr>
            <p:spPr>
              <a:xfrm>
                <a:off x="1032565" y="3309586"/>
                <a:ext cx="3436069" cy="498406"/>
              </a:xfrm>
              <a:prstGeom prst="rect">
                <a:avLst/>
              </a:prstGeom>
              <a:noFill/>
            </p:spPr>
            <p:txBody>
              <a:bodyPr wrap="none" lIns="0" tIns="0" rIns="0" bIns="0" rtlCol="0">
                <a:spAutoFit/>
              </a:bodyPr>
              <a:lstStyle/>
              <a:p>
                <a:r>
                  <a:rPr lang="es-CO" sz="2000" b="0" dirty="0"/>
                  <a:t>1+</a:t>
                </a:r>
                <a14:m>
                  <m:oMath xmlns:m="http://schemas.openxmlformats.org/officeDocument/2006/math">
                    <m:f>
                      <m:fPr>
                        <m:ctrlPr>
                          <a:rPr lang="es-CO" sz="2000" b="0" i="1" smtClean="0">
                            <a:latin typeface="Cambria Math" panose="02040503050406030204" pitchFamily="18" charset="0"/>
                          </a:rPr>
                        </m:ctrlPr>
                      </m:fPr>
                      <m:num>
                        <m:r>
                          <a:rPr lang="es-CO" sz="2000" b="0" i="1" smtClean="0">
                            <a:latin typeface="Cambria Math" panose="02040503050406030204" pitchFamily="18" charset="0"/>
                          </a:rPr>
                          <m:t>𝐾</m:t>
                        </m:r>
                        <m:d>
                          <m:dPr>
                            <m:ctrlPr>
                              <a:rPr lang="es-CO" sz="2000" b="0" i="1" smtClean="0">
                                <a:latin typeface="Cambria Math" panose="02040503050406030204" pitchFamily="18" charset="0"/>
                              </a:rPr>
                            </m:ctrlPr>
                          </m:dPr>
                          <m:e>
                            <m:r>
                              <a:rPr lang="es-CO" sz="2000" b="0" i="1" smtClean="0">
                                <a:latin typeface="Cambria Math" panose="02040503050406030204" pitchFamily="18" charset="0"/>
                              </a:rPr>
                              <m:t>𝑧</m:t>
                            </m:r>
                            <m:r>
                              <a:rPr lang="es-CO" sz="2000" b="0" i="1" smtClean="0">
                                <a:latin typeface="Cambria Math" panose="02040503050406030204" pitchFamily="18" charset="0"/>
                              </a:rPr>
                              <m:t>+</m:t>
                            </m:r>
                            <m:sSub>
                              <m:sSubPr>
                                <m:ctrlPr>
                                  <a:rPr lang="es-CO" sz="2000" b="0" i="1" smtClean="0">
                                    <a:latin typeface="Cambria Math" panose="02040503050406030204" pitchFamily="18" charset="0"/>
                                  </a:rPr>
                                </m:ctrlPr>
                              </m:sSubPr>
                              <m:e>
                                <m:r>
                                  <a:rPr lang="es-CO" sz="2000" b="0" i="1" smtClean="0">
                                    <a:latin typeface="Cambria Math" panose="02040503050406030204" pitchFamily="18" charset="0"/>
                                  </a:rPr>
                                  <m:t>𝑧</m:t>
                                </m:r>
                              </m:e>
                              <m:sub>
                                <m:r>
                                  <a:rPr lang="es-CO" sz="2000" b="0" i="1" smtClean="0">
                                    <a:latin typeface="Cambria Math" panose="02040503050406030204" pitchFamily="18" charset="0"/>
                                  </a:rPr>
                                  <m:t>1</m:t>
                                </m:r>
                              </m:sub>
                            </m:sSub>
                          </m:e>
                        </m:d>
                        <m:d>
                          <m:dPr>
                            <m:ctrlPr>
                              <a:rPr lang="es-CO" sz="2000" b="0" i="1" smtClean="0">
                                <a:latin typeface="Cambria Math" panose="02040503050406030204" pitchFamily="18" charset="0"/>
                              </a:rPr>
                            </m:ctrlPr>
                          </m:dPr>
                          <m:e>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𝑧</m:t>
                                </m:r>
                              </m:e>
                              <m:sub>
                                <m:r>
                                  <a:rPr lang="es-CO" sz="2000" b="0" i="1" smtClean="0">
                                    <a:latin typeface="Cambria Math" panose="02040503050406030204" pitchFamily="18" charset="0"/>
                                  </a:rPr>
                                  <m:t>2</m:t>
                                </m:r>
                              </m:sub>
                            </m:sSub>
                          </m:e>
                        </m:d>
                        <m:d>
                          <m:dPr>
                            <m:ctrlPr>
                              <a:rPr lang="es-CO" sz="2000" i="1">
                                <a:latin typeface="Cambria Math" panose="02040503050406030204" pitchFamily="18" charset="0"/>
                              </a:rPr>
                            </m:ctrlPr>
                          </m:dPr>
                          <m:e>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𝑧</m:t>
                                </m:r>
                              </m:e>
                              <m:sub>
                                <m:r>
                                  <a:rPr lang="es-CO" sz="2000" b="0" i="1" smtClean="0">
                                    <a:latin typeface="Cambria Math" panose="02040503050406030204" pitchFamily="18" charset="0"/>
                                  </a:rPr>
                                  <m:t>3</m:t>
                                </m:r>
                              </m:sub>
                            </m:sSub>
                          </m:e>
                        </m:d>
                        <m:r>
                          <a:rPr lang="es-CO" sz="2000" b="0" i="1" smtClean="0">
                            <a:latin typeface="Cambria Math" panose="02040503050406030204" pitchFamily="18" charset="0"/>
                          </a:rPr>
                          <m:t>…</m:t>
                        </m:r>
                        <m:r>
                          <a:rPr lang="es-CO" sz="2000" i="1">
                            <a:latin typeface="Cambria Math" panose="02040503050406030204" pitchFamily="18" charset="0"/>
                          </a:rPr>
                          <m:t>(</m:t>
                        </m:r>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𝑧</m:t>
                            </m:r>
                          </m:e>
                          <m:sub>
                            <m:r>
                              <a:rPr lang="es-CO" sz="2000" b="0" i="1" smtClean="0">
                                <a:latin typeface="Cambria Math" panose="02040503050406030204" pitchFamily="18" charset="0"/>
                              </a:rPr>
                              <m:t>𝑚</m:t>
                            </m:r>
                          </m:sub>
                        </m:sSub>
                        <m:r>
                          <a:rPr lang="es-CO" sz="2000" i="1">
                            <a:latin typeface="Cambria Math" panose="02040503050406030204" pitchFamily="18" charset="0"/>
                          </a:rPr>
                          <m:t>)</m:t>
                        </m:r>
                      </m:num>
                      <m:den>
                        <m:d>
                          <m:dPr>
                            <m:ctrlPr>
                              <a:rPr lang="es-CO" sz="2000" i="1">
                                <a:latin typeface="Cambria Math" panose="02040503050406030204" pitchFamily="18" charset="0"/>
                              </a:rPr>
                            </m:ctrlPr>
                          </m:dPr>
                          <m:e>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b="0" i="1" smtClean="0">
                                    <a:latin typeface="Cambria Math" panose="02040503050406030204" pitchFamily="18" charset="0"/>
                                  </a:rPr>
                                  <m:t>𝑃</m:t>
                                </m:r>
                              </m:e>
                              <m:sub>
                                <m:r>
                                  <a:rPr lang="es-CO" sz="2000" i="1">
                                    <a:latin typeface="Cambria Math" panose="02040503050406030204" pitchFamily="18" charset="0"/>
                                  </a:rPr>
                                  <m:t>1</m:t>
                                </m:r>
                              </m:sub>
                            </m:sSub>
                          </m:e>
                        </m:d>
                        <m:d>
                          <m:dPr>
                            <m:ctrlPr>
                              <a:rPr lang="es-CO" sz="2000" i="1">
                                <a:latin typeface="Cambria Math" panose="02040503050406030204" pitchFamily="18" charset="0"/>
                              </a:rPr>
                            </m:ctrlPr>
                          </m:dPr>
                          <m:e>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b="0" i="1" smtClean="0">
                                    <a:latin typeface="Cambria Math" panose="02040503050406030204" pitchFamily="18" charset="0"/>
                                  </a:rPr>
                                  <m:t>2</m:t>
                                </m:r>
                              </m:sub>
                            </m:sSub>
                          </m:e>
                        </m:d>
                        <m:d>
                          <m:dPr>
                            <m:ctrlPr>
                              <a:rPr lang="es-CO" sz="2000" i="1">
                                <a:latin typeface="Cambria Math" panose="02040503050406030204" pitchFamily="18" charset="0"/>
                              </a:rPr>
                            </m:ctrlPr>
                          </m:dPr>
                          <m:e>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b="0" i="1" smtClean="0">
                                    <a:latin typeface="Cambria Math" panose="02040503050406030204" pitchFamily="18" charset="0"/>
                                  </a:rPr>
                                  <m:t>3</m:t>
                                </m:r>
                              </m:sub>
                            </m:sSub>
                          </m:e>
                        </m:d>
                        <m:r>
                          <a:rPr lang="es-CO" sz="2000" b="0" i="1" smtClean="0">
                            <a:latin typeface="Cambria Math" panose="02040503050406030204" pitchFamily="18" charset="0"/>
                          </a:rPr>
                          <m:t>…</m:t>
                        </m:r>
                        <m:r>
                          <a:rPr lang="es-CO" sz="2000" i="1">
                            <a:latin typeface="Cambria Math" panose="02040503050406030204" pitchFamily="18" charset="0"/>
                          </a:rPr>
                          <m:t>(</m:t>
                        </m:r>
                        <m:r>
                          <a:rPr lang="es-CO" sz="2000" i="1">
                            <a:latin typeface="Cambria Math" panose="02040503050406030204" pitchFamily="18" charset="0"/>
                          </a:rPr>
                          <m:t>𝑧</m:t>
                        </m:r>
                        <m:r>
                          <a:rPr lang="es-CO" sz="2000" i="1">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panose="02040503050406030204" pitchFamily="18" charset="0"/>
                              </a:rPr>
                              <m:t>𝑃</m:t>
                            </m:r>
                          </m:e>
                          <m:sub>
                            <m:r>
                              <a:rPr lang="es-CO" sz="2000" b="0" i="1" smtClean="0">
                                <a:latin typeface="Cambria Math" panose="02040503050406030204" pitchFamily="18" charset="0"/>
                              </a:rPr>
                              <m:t>𝑛</m:t>
                            </m:r>
                          </m:sub>
                        </m:sSub>
                        <m:r>
                          <a:rPr lang="es-CO" sz="2000" i="1">
                            <a:latin typeface="Cambria Math" panose="02040503050406030204" pitchFamily="18" charset="0"/>
                          </a:rPr>
                          <m:t>)</m:t>
                        </m:r>
                      </m:den>
                    </m:f>
                    <m:r>
                      <a:rPr lang="es-CO" sz="2000" b="0" i="1" smtClean="0">
                        <a:latin typeface="Cambria Math" panose="02040503050406030204" pitchFamily="18" charset="0"/>
                      </a:rPr>
                      <m:t>=0</m:t>
                    </m:r>
                  </m:oMath>
                </a14:m>
                <a:endParaRPr lang="en-US" sz="2000" dirty="0"/>
              </a:p>
            </p:txBody>
          </p:sp>
        </mc:Choice>
        <mc:Fallback xmlns="">
          <p:sp>
            <p:nvSpPr>
              <p:cNvPr id="6" name="CuadroTexto 5">
                <a:extLst>
                  <a:ext uri="{FF2B5EF4-FFF2-40B4-BE49-F238E27FC236}">
                    <a16:creationId xmlns:a16="http://schemas.microsoft.com/office/drawing/2014/main" id="{88A85B08-41DD-FBEE-63C8-AEC4EDD531F9}"/>
                  </a:ext>
                </a:extLst>
              </p:cNvPr>
              <p:cNvSpPr txBox="1">
                <a:spLocks noRot="1" noChangeAspect="1" noMove="1" noResize="1" noEditPoints="1" noAdjustHandles="1" noChangeArrowheads="1" noChangeShapeType="1" noTextEdit="1"/>
              </p:cNvSpPr>
              <p:nvPr/>
            </p:nvSpPr>
            <p:spPr>
              <a:xfrm>
                <a:off x="1032565" y="3309586"/>
                <a:ext cx="3436069" cy="498406"/>
              </a:xfrm>
              <a:prstGeom prst="rect">
                <a:avLst/>
              </a:prstGeom>
              <a:blipFill>
                <a:blip r:embed="rId4"/>
                <a:stretch>
                  <a:fillRect l="-4433" b="-8537"/>
                </a:stretch>
              </a:blipFill>
            </p:spPr>
            <p:txBody>
              <a:bodyPr/>
              <a:lstStyle/>
              <a:p>
                <a:r>
                  <a:rPr lang="es-CO">
                    <a:noFill/>
                  </a:rPr>
                  <a:t> </a:t>
                </a:r>
              </a:p>
            </p:txBody>
          </p:sp>
        </mc:Fallback>
      </mc:AlternateContent>
      <p:pic>
        <p:nvPicPr>
          <p:cNvPr id="9" name="Imagen 8">
            <a:extLst>
              <a:ext uri="{FF2B5EF4-FFF2-40B4-BE49-F238E27FC236}">
                <a16:creationId xmlns:a16="http://schemas.microsoft.com/office/drawing/2014/main" id="{E6D66145-2940-B7D1-6779-45A91687606F}"/>
              </a:ext>
            </a:extLst>
          </p:cNvPr>
          <p:cNvPicPr>
            <a:picLocks noChangeAspect="1"/>
          </p:cNvPicPr>
          <p:nvPr/>
        </p:nvPicPr>
        <p:blipFill>
          <a:blip r:embed="rId5"/>
          <a:stretch>
            <a:fillRect/>
          </a:stretch>
        </p:blipFill>
        <p:spPr>
          <a:xfrm>
            <a:off x="4675368" y="1867597"/>
            <a:ext cx="4292592" cy="3880790"/>
          </a:xfrm>
          <a:prstGeom prst="rect">
            <a:avLst/>
          </a:prstGeom>
        </p:spPr>
      </p:pic>
    </p:spTree>
    <p:extLst>
      <p:ext uri="{BB962C8B-B14F-4D97-AF65-F5344CB8AC3E}">
        <p14:creationId xmlns:p14="http://schemas.microsoft.com/office/powerpoint/2010/main" val="3884644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F44D0-DA36-9055-EBC6-EA3D4EA5AD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96EEC4-3B82-F2FF-DB99-84BBD09E4FB8}"/>
              </a:ext>
            </a:extLst>
          </p:cNvPr>
          <p:cNvSpPr>
            <a:spLocks noGrp="1"/>
          </p:cNvSpPr>
          <p:nvPr>
            <p:ph type="title"/>
          </p:nvPr>
        </p:nvSpPr>
        <p:spPr>
          <a:xfrm>
            <a:off x="1032565" y="1126313"/>
            <a:ext cx="3008313" cy="1162050"/>
          </a:xfrm>
        </p:spPr>
        <p:txBody>
          <a:bodyPr/>
          <a:lstStyle/>
          <a:p>
            <a:r>
              <a:rPr lang="es-CO"/>
              <a:t>Actividad Individual</a:t>
            </a:r>
          </a:p>
        </p:txBody>
      </p:sp>
      <mc:AlternateContent xmlns:mc="http://schemas.openxmlformats.org/markup-compatibility/2006" xmlns:a14="http://schemas.microsoft.com/office/drawing/2010/main">
        <mc:Choice Requires="a14">
          <p:sp>
            <p:nvSpPr>
              <p:cNvPr id="4" name="Marcador de texto 3">
                <a:extLst>
                  <a:ext uri="{FF2B5EF4-FFF2-40B4-BE49-F238E27FC236}">
                    <a16:creationId xmlns:a16="http://schemas.microsoft.com/office/drawing/2014/main" id="{4D07AEAF-E787-8A3D-A997-23A8F8A47BF6}"/>
                  </a:ext>
                </a:extLst>
              </p:cNvPr>
              <p:cNvSpPr>
                <a:spLocks noGrp="1"/>
              </p:cNvSpPr>
              <p:nvPr>
                <p:ph type="body" sz="half" idx="2"/>
              </p:nvPr>
            </p:nvSpPr>
            <p:spPr>
              <a:xfrm>
                <a:off x="1032565" y="2288364"/>
                <a:ext cx="7576605" cy="3443324"/>
              </a:xfrm>
            </p:spPr>
            <p:txBody>
              <a:bodyPr>
                <a:normAutofit fontScale="92500" lnSpcReduction="10000"/>
              </a:bodyPr>
              <a:lstStyle/>
              <a:p>
                <a:pPr algn="just"/>
                <a:endParaRPr lang="es-ES" sz="2400" dirty="0">
                  <a:latin typeface="Söhne"/>
                </a:endParaRPr>
              </a:p>
              <a:p>
                <a:pPr algn="just"/>
                <a:endParaRPr lang="es-ES" sz="2400" dirty="0">
                  <a:latin typeface="Söhne"/>
                </a:endParaRPr>
              </a:p>
              <a:p>
                <a:pPr algn="just"/>
                <a:r>
                  <a:rPr lang="es-ES" sz="2400" dirty="0">
                    <a:latin typeface="Söhne"/>
                  </a:rPr>
                  <a:t>Para la siguiente función de transferencia discretice dibuje el lugar geométrico de las raíces:</a:t>
                </a:r>
              </a:p>
              <a:p>
                <a:pPr algn="just"/>
                <a:endParaRPr lang="es-ES" sz="2400" dirty="0">
                  <a:latin typeface="Söhne"/>
                </a:endParaRPr>
              </a:p>
              <a:p>
                <a:pPr algn="just"/>
                <a14:m>
                  <m:oMathPara xmlns:m="http://schemas.openxmlformats.org/officeDocument/2006/math">
                    <m:oMathParaPr>
                      <m:jc m:val="centerGroup"/>
                    </m:oMathParaPr>
                    <m:oMath xmlns:m="http://schemas.openxmlformats.org/officeDocument/2006/math">
                      <m:f>
                        <m:fPr>
                          <m:ctrlPr>
                            <a:rPr lang="es-CO" sz="2400" b="0" i="1" smtClean="0">
                              <a:latin typeface="Cambria Math" panose="02040503050406030204" pitchFamily="18" charset="0"/>
                            </a:rPr>
                          </m:ctrlPr>
                        </m:fPr>
                        <m:num>
                          <m:r>
                            <a:rPr lang="es-CO" sz="2400" b="0" i="1" smtClean="0">
                              <a:latin typeface="Cambria Math" panose="02040503050406030204" pitchFamily="18" charset="0"/>
                            </a:rPr>
                            <m:t>0,632</m:t>
                          </m:r>
                          <m:r>
                            <a:rPr lang="es-CO" sz="2400" b="0" i="1" smtClean="0">
                              <a:latin typeface="Cambria Math" panose="02040503050406030204" pitchFamily="18" charset="0"/>
                            </a:rPr>
                            <m:t>𝐾𝑧</m:t>
                          </m:r>
                        </m:num>
                        <m:den>
                          <m:sSup>
                            <m:sSupPr>
                              <m:ctrlPr>
                                <a:rPr lang="es-CO" sz="2400" b="0" i="1" smtClean="0">
                                  <a:latin typeface="Cambria Math" panose="02040503050406030204" pitchFamily="18" charset="0"/>
                                </a:rPr>
                              </m:ctrlPr>
                            </m:sSupPr>
                            <m:e>
                              <m:r>
                                <a:rPr lang="es-CO" sz="2400" b="0" i="1" smtClean="0">
                                  <a:latin typeface="Cambria Math" panose="02040503050406030204" pitchFamily="18" charset="0"/>
                                </a:rPr>
                                <m:t>𝑧</m:t>
                              </m:r>
                            </m:e>
                            <m:sup>
                              <m:r>
                                <a:rPr lang="es-CO" sz="2400" b="0" i="1" smtClean="0">
                                  <a:latin typeface="Cambria Math" panose="02040503050406030204" pitchFamily="18" charset="0"/>
                                </a:rPr>
                                <m:t>2</m:t>
                              </m:r>
                            </m:sup>
                          </m:sSup>
                          <m:r>
                            <a:rPr lang="es-CO" sz="2400" b="0" i="1" smtClean="0">
                              <a:latin typeface="Cambria Math" panose="02040503050406030204" pitchFamily="18" charset="0"/>
                            </a:rPr>
                            <m:t>−1.368</m:t>
                          </m:r>
                          <m:r>
                            <a:rPr lang="es-CO" sz="2400" b="0" i="1" smtClean="0">
                              <a:latin typeface="Cambria Math" panose="02040503050406030204" pitchFamily="18" charset="0"/>
                            </a:rPr>
                            <m:t>𝑧</m:t>
                          </m:r>
                          <m:r>
                            <a:rPr lang="es-CO" sz="2400" b="0" i="1" smtClean="0">
                              <a:latin typeface="Cambria Math" panose="02040503050406030204" pitchFamily="18" charset="0"/>
                            </a:rPr>
                            <m:t>+0.368</m:t>
                          </m:r>
                        </m:den>
                      </m:f>
                    </m:oMath>
                  </m:oMathPara>
                </a14:m>
                <a:endParaRPr lang="es-ES" sz="2400" dirty="0">
                  <a:latin typeface="Söhne"/>
                </a:endParaRPr>
              </a:p>
              <a:p>
                <a:pPr algn="just"/>
                <a:endParaRPr lang="es-ES" sz="2400" dirty="0">
                  <a:latin typeface="Söhne"/>
                </a:endParaRPr>
              </a:p>
              <a:p>
                <a:pPr algn="just"/>
                <a:r>
                  <a:rPr lang="es-ES" sz="2400" dirty="0">
                    <a:latin typeface="Söhne"/>
                  </a:rPr>
                  <a:t>Desarrolle el proceso paso a paso  y simule.</a:t>
                </a:r>
              </a:p>
              <a:p>
                <a:pPr algn="just"/>
                <a:r>
                  <a:rPr lang="es-ES" sz="2400" dirty="0">
                    <a:latin typeface="Söhne"/>
                  </a:rPr>
                  <a:t>¿para qué valor de k el sistema es inestable?</a:t>
                </a:r>
              </a:p>
            </p:txBody>
          </p:sp>
        </mc:Choice>
        <mc:Fallback xmlns="">
          <p:sp>
            <p:nvSpPr>
              <p:cNvPr id="4" name="Marcador de texto 3">
                <a:extLst>
                  <a:ext uri="{FF2B5EF4-FFF2-40B4-BE49-F238E27FC236}">
                    <a16:creationId xmlns:a16="http://schemas.microsoft.com/office/drawing/2014/main" id="{4D07AEAF-E787-8A3D-A997-23A8F8A47BF6}"/>
                  </a:ext>
                </a:extLst>
              </p:cNvPr>
              <p:cNvSpPr>
                <a:spLocks noGrp="1" noRot="1" noChangeAspect="1" noMove="1" noResize="1" noEditPoints="1" noAdjustHandles="1" noChangeArrowheads="1" noChangeShapeType="1" noTextEdit="1"/>
              </p:cNvSpPr>
              <p:nvPr>
                <p:ph type="body" sz="half" idx="2"/>
              </p:nvPr>
            </p:nvSpPr>
            <p:spPr>
              <a:xfrm>
                <a:off x="1032565" y="2288364"/>
                <a:ext cx="7576605" cy="3443324"/>
              </a:xfrm>
              <a:blipFill>
                <a:blip r:embed="rId3"/>
                <a:stretch>
                  <a:fillRect l="-1046" r="-1046" b="-3186"/>
                </a:stretch>
              </a:blipFill>
            </p:spPr>
            <p:txBody>
              <a:bodyPr/>
              <a:lstStyle/>
              <a:p>
                <a:r>
                  <a:rPr lang="es-CO">
                    <a:noFill/>
                  </a:rPr>
                  <a:t> </a:t>
                </a:r>
              </a:p>
            </p:txBody>
          </p:sp>
        </mc:Fallback>
      </mc:AlternateContent>
      <p:sp>
        <p:nvSpPr>
          <p:cNvPr id="10" name="1 Título">
            <a:extLst>
              <a:ext uri="{FF2B5EF4-FFF2-40B4-BE49-F238E27FC236}">
                <a16:creationId xmlns:a16="http://schemas.microsoft.com/office/drawing/2014/main" id="{196C75F4-D1A1-1CB6-6057-32DB6621649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22</a:t>
            </a:r>
          </a:p>
        </p:txBody>
      </p:sp>
      <p:pic>
        <p:nvPicPr>
          <p:cNvPr id="14" name="Picture 4" descr="Programas - Intranet ETITC">
            <a:extLst>
              <a:ext uri="{FF2B5EF4-FFF2-40B4-BE49-F238E27FC236}">
                <a16:creationId xmlns:a16="http://schemas.microsoft.com/office/drawing/2014/main" id="{89730A07-5D08-CD7C-7CDC-484A710C2D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00B825D-83BB-B5D9-4F1A-D9989595C19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2399273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07DF4-D82D-39EA-7458-EBCE205C8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96C4F3-E88C-E6E6-4027-BB86283F378B}"/>
              </a:ext>
            </a:extLst>
          </p:cNvPr>
          <p:cNvSpPr>
            <a:spLocks noGrp="1"/>
          </p:cNvSpPr>
          <p:nvPr>
            <p:ph type="title"/>
          </p:nvPr>
        </p:nvSpPr>
        <p:spPr>
          <a:xfrm>
            <a:off x="1032565" y="1126313"/>
            <a:ext cx="4613323" cy="1162050"/>
          </a:xfrm>
        </p:spPr>
        <p:txBody>
          <a:bodyPr/>
          <a:lstStyle/>
          <a:p>
            <a:r>
              <a:rPr lang="es-CO" b="1" dirty="0"/>
              <a:t>TALLER</a:t>
            </a:r>
          </a:p>
        </p:txBody>
      </p:sp>
      <p:sp>
        <p:nvSpPr>
          <p:cNvPr id="10" name="1 Título">
            <a:extLst>
              <a:ext uri="{FF2B5EF4-FFF2-40B4-BE49-F238E27FC236}">
                <a16:creationId xmlns:a16="http://schemas.microsoft.com/office/drawing/2014/main" id="{C486E451-62B5-E020-E919-F70BCF3CFD39}"/>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23</a:t>
            </a:r>
          </a:p>
        </p:txBody>
      </p:sp>
      <p:pic>
        <p:nvPicPr>
          <p:cNvPr id="14" name="Picture 4" descr="Programas - Intranet ETITC">
            <a:extLst>
              <a:ext uri="{FF2B5EF4-FFF2-40B4-BE49-F238E27FC236}">
                <a16:creationId xmlns:a16="http://schemas.microsoft.com/office/drawing/2014/main" id="{4F13DB36-C069-BCE3-F312-5541FE16A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97D0726-9C7A-3DE2-95AA-A6D80C39FF6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BEE6793-EEA1-23E0-BF6E-EE0C00960FD4}"/>
                  </a:ext>
                </a:extLst>
              </p:cNvPr>
              <p:cNvSpPr txBox="1"/>
              <p:nvPr/>
            </p:nvSpPr>
            <p:spPr>
              <a:xfrm>
                <a:off x="925906" y="3290500"/>
                <a:ext cx="72921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b="0" i="1" smtClean="0">
                          <a:latin typeface="Cambria Math" panose="02040503050406030204" pitchFamily="18" charset="0"/>
                        </a:rPr>
                        <m:t>𝑦</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e>
                      </m:d>
                      <m:r>
                        <a:rPr lang="es-CO" b="0" i="1" smtClean="0">
                          <a:latin typeface="Cambria Math" panose="02040503050406030204" pitchFamily="18" charset="0"/>
                        </a:rPr>
                        <m:t>−0,6</m:t>
                      </m:r>
                      <m:r>
                        <a:rPr lang="es-CO" b="0" i="1" smtClean="0">
                          <a:latin typeface="Cambria Math" panose="02040503050406030204" pitchFamily="18" charset="0"/>
                        </a:rPr>
                        <m:t>𝑦</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r>
                            <a:rPr lang="es-CO" b="0" i="1" smtClean="0">
                              <a:latin typeface="Cambria Math" panose="02040503050406030204" pitchFamily="18" charset="0"/>
                            </a:rPr>
                            <m:t>−1</m:t>
                          </m:r>
                        </m:e>
                      </m:d>
                      <m:r>
                        <a:rPr lang="es-CO" b="0" i="1" smtClean="0">
                          <a:latin typeface="Cambria Math" panose="02040503050406030204" pitchFamily="18" charset="0"/>
                        </a:rPr>
                        <m:t>−0,81</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r>
                            <a:rPr lang="es-CO" b="0" i="1" smtClean="0">
                              <a:latin typeface="Cambria Math" panose="02040503050406030204" pitchFamily="18" charset="0"/>
                            </a:rPr>
                            <m:t>−2</m:t>
                          </m:r>
                        </m:e>
                      </m:d>
                      <m:r>
                        <a:rPr lang="es-CO" b="0" i="1" smtClean="0">
                          <a:latin typeface="Cambria Math" panose="02040503050406030204" pitchFamily="18" charset="0"/>
                        </a:rPr>
                        <m:t>+0,67</m:t>
                      </m:r>
                      <m:r>
                        <a:rPr lang="es-CO" b="0" i="1" smtClean="0">
                          <a:latin typeface="Cambria Math" panose="02040503050406030204" pitchFamily="18" charset="0"/>
                        </a:rPr>
                        <m:t>𝑦</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r>
                            <a:rPr lang="es-CO" b="0" i="1" smtClean="0">
                              <a:latin typeface="Cambria Math" panose="02040503050406030204" pitchFamily="18" charset="0"/>
                            </a:rPr>
                            <m:t>−3</m:t>
                          </m:r>
                        </m:e>
                      </m:d>
                      <m:r>
                        <a:rPr lang="es-CO" b="0" i="1" smtClean="0">
                          <a:latin typeface="Cambria Math" panose="02040503050406030204" pitchFamily="18" charset="0"/>
                        </a:rPr>
                        <m:t>−0,12</m:t>
                      </m:r>
                      <m:r>
                        <a:rPr lang="es-CO" b="0" i="1" smtClean="0">
                          <a:latin typeface="Cambria Math" panose="02040503050406030204" pitchFamily="18" charset="0"/>
                        </a:rPr>
                        <m:t>𝑦</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r>
                            <a:rPr lang="es-CO" b="0" i="1" smtClean="0">
                              <a:latin typeface="Cambria Math" panose="02040503050406030204" pitchFamily="18" charset="0"/>
                            </a:rPr>
                            <m:t>−4</m:t>
                          </m:r>
                        </m:e>
                      </m:d>
                      <m:r>
                        <a:rPr lang="es-CO" b="0" i="1" smtClean="0">
                          <a:latin typeface="Cambria Math" panose="02040503050406030204" pitchFamily="18" charset="0"/>
                        </a:rPr>
                        <m:t>=</m:t>
                      </m:r>
                      <m:r>
                        <a:rPr lang="es-CO" b="0" i="1" smtClean="0">
                          <a:latin typeface="Cambria Math" panose="02040503050406030204" pitchFamily="18" charset="0"/>
                        </a:rPr>
                        <m:t>𝑥</m:t>
                      </m:r>
                      <m:r>
                        <a:rPr lang="es-CO" b="0" i="1" smtClean="0">
                          <a:latin typeface="Cambria Math" panose="02040503050406030204" pitchFamily="18" charset="0"/>
                        </a:rPr>
                        <m:t>(</m:t>
                      </m:r>
                      <m:r>
                        <a:rPr lang="es-CO" b="0" i="1" smtClean="0">
                          <a:latin typeface="Cambria Math" panose="02040503050406030204" pitchFamily="18" charset="0"/>
                        </a:rPr>
                        <m:t>𝑘</m:t>
                      </m:r>
                      <m:r>
                        <a:rPr lang="es-CO" b="0" i="1" smtClean="0">
                          <a:latin typeface="Cambria Math" panose="02040503050406030204" pitchFamily="18" charset="0"/>
                        </a:rPr>
                        <m:t>)</m:t>
                      </m:r>
                    </m:oMath>
                  </m:oMathPara>
                </a14:m>
                <a:endParaRPr lang="es-CO" dirty="0"/>
              </a:p>
            </p:txBody>
          </p:sp>
        </mc:Choice>
        <mc:Fallback xmlns="">
          <p:sp>
            <p:nvSpPr>
              <p:cNvPr id="3" name="CuadroTexto 2">
                <a:extLst>
                  <a:ext uri="{FF2B5EF4-FFF2-40B4-BE49-F238E27FC236}">
                    <a16:creationId xmlns:a16="http://schemas.microsoft.com/office/drawing/2014/main" id="{CBEE6793-EEA1-23E0-BF6E-EE0C00960FD4}"/>
                  </a:ext>
                </a:extLst>
              </p:cNvPr>
              <p:cNvSpPr txBox="1">
                <a:spLocks noRot="1" noChangeAspect="1" noMove="1" noResize="1" noEditPoints="1" noAdjustHandles="1" noChangeArrowheads="1" noChangeShapeType="1" noTextEdit="1"/>
              </p:cNvSpPr>
              <p:nvPr/>
            </p:nvSpPr>
            <p:spPr>
              <a:xfrm>
                <a:off x="925906" y="3290500"/>
                <a:ext cx="7292188" cy="276999"/>
              </a:xfrm>
              <a:prstGeom prst="rect">
                <a:avLst/>
              </a:prstGeom>
              <a:blipFill>
                <a:blip r:embed="rId4"/>
                <a:stretch>
                  <a:fillRect l="-334" t="-2222" r="-669" b="-35556"/>
                </a:stretch>
              </a:blipFill>
            </p:spPr>
            <p:txBody>
              <a:bodyPr/>
              <a:lstStyle/>
              <a:p>
                <a:r>
                  <a:rPr lang="es-CO">
                    <a:noFill/>
                  </a:rPr>
                  <a:t> </a:t>
                </a:r>
              </a:p>
            </p:txBody>
          </p:sp>
        </mc:Fallback>
      </mc:AlternateContent>
      <p:sp>
        <p:nvSpPr>
          <p:cNvPr id="6" name="CuadroTexto 5">
            <a:extLst>
              <a:ext uri="{FF2B5EF4-FFF2-40B4-BE49-F238E27FC236}">
                <a16:creationId xmlns:a16="http://schemas.microsoft.com/office/drawing/2014/main" id="{B6FD5039-9A9F-9FF1-02EA-E9E0D82DA503}"/>
              </a:ext>
            </a:extLst>
          </p:cNvPr>
          <p:cNvSpPr txBox="1"/>
          <p:nvPr/>
        </p:nvSpPr>
        <p:spPr>
          <a:xfrm>
            <a:off x="835092" y="2404793"/>
            <a:ext cx="7473815" cy="3693319"/>
          </a:xfrm>
          <a:prstGeom prst="rect">
            <a:avLst/>
          </a:prstGeom>
          <a:noFill/>
        </p:spPr>
        <p:txBody>
          <a:bodyPr wrap="square" rtlCol="0">
            <a:spAutoFit/>
          </a:bodyPr>
          <a:lstStyle/>
          <a:p>
            <a:r>
              <a:rPr lang="es-CO" dirty="0"/>
              <a:t>Considere el siguiente sistema,</a:t>
            </a:r>
          </a:p>
          <a:p>
            <a:endParaRPr lang="es-CO" dirty="0"/>
          </a:p>
          <a:p>
            <a:endParaRPr lang="es-CO" dirty="0"/>
          </a:p>
          <a:p>
            <a:endParaRPr lang="es-CO" dirty="0"/>
          </a:p>
          <a:p>
            <a:endParaRPr lang="es-CO" dirty="0"/>
          </a:p>
          <a:p>
            <a:r>
              <a:rPr lang="es-CO" dirty="0"/>
              <a:t>Donde x(k) es la entrada del sistema y y(k) es la salida del sistema.</a:t>
            </a:r>
          </a:p>
          <a:p>
            <a:r>
              <a:rPr lang="es-CO" dirty="0"/>
              <a:t>Determine la estabilidad del sistema.</a:t>
            </a:r>
          </a:p>
          <a:p>
            <a:endParaRPr lang="es-CO" dirty="0"/>
          </a:p>
          <a:p>
            <a:r>
              <a:rPr lang="es-CO" dirty="0"/>
              <a:t>Las ecuaciones características del sistema de control en tiempo discreto se dan a continuación. Construya el LGR para K&gt;0. Determine el valor marginal de K para estabilidad.</a:t>
            </a:r>
          </a:p>
          <a:p>
            <a:endParaRPr lang="es-CO" dirty="0"/>
          </a:p>
          <a:p>
            <a:endParaRPr lang="es-CO"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919936F-0B35-EE64-31D2-B0813F39FCB2}"/>
                  </a:ext>
                </a:extLst>
              </p:cNvPr>
              <p:cNvSpPr txBox="1"/>
              <p:nvPr/>
            </p:nvSpPr>
            <p:spPr>
              <a:xfrm>
                <a:off x="925906" y="5821113"/>
                <a:ext cx="31809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b="0" i="1" smtClean="0">
                              <a:latin typeface="Cambria Math" panose="02040503050406030204" pitchFamily="18" charset="0"/>
                            </a:rPr>
                          </m:ctrlPr>
                        </m:sSupPr>
                        <m:e>
                          <m:r>
                            <a:rPr lang="es-CO" b="0" i="1" smtClean="0">
                              <a:latin typeface="Cambria Math" panose="02040503050406030204" pitchFamily="18" charset="0"/>
                            </a:rPr>
                            <m:t>𝑧</m:t>
                          </m:r>
                        </m:e>
                        <m:sup>
                          <m:r>
                            <a:rPr lang="es-CO" b="0" i="1" smtClean="0">
                              <a:latin typeface="Cambria Math" panose="02040503050406030204" pitchFamily="18" charset="0"/>
                            </a:rPr>
                            <m:t>3</m:t>
                          </m:r>
                        </m:sup>
                      </m:sSup>
                      <m:r>
                        <a:rPr lang="es-CO" b="0" i="1" smtClean="0">
                          <a:latin typeface="Cambria Math" panose="02040503050406030204" pitchFamily="18" charset="0"/>
                        </a:rPr>
                        <m:t>+</m:t>
                      </m:r>
                      <m:r>
                        <a:rPr lang="es-CO" b="0" i="1" smtClean="0">
                          <a:latin typeface="Cambria Math" panose="02040503050406030204" pitchFamily="18" charset="0"/>
                        </a:rPr>
                        <m:t>𝑘</m:t>
                      </m:r>
                      <m:sSup>
                        <m:sSupPr>
                          <m:ctrlPr>
                            <a:rPr lang="es-CO" b="0" i="1" smtClean="0">
                              <a:latin typeface="Cambria Math" panose="02040503050406030204" pitchFamily="18" charset="0"/>
                            </a:rPr>
                          </m:ctrlPr>
                        </m:sSupPr>
                        <m:e>
                          <m:r>
                            <a:rPr lang="es-CO" b="0" i="1" smtClean="0">
                              <a:latin typeface="Cambria Math" panose="02040503050406030204" pitchFamily="18" charset="0"/>
                            </a:rPr>
                            <m:t>𝑧</m:t>
                          </m:r>
                        </m:e>
                        <m:sup>
                          <m:r>
                            <a:rPr lang="es-CO" b="0" i="1" smtClean="0">
                              <a:latin typeface="Cambria Math" panose="02040503050406030204" pitchFamily="18" charset="0"/>
                            </a:rPr>
                            <m:t>2</m:t>
                          </m:r>
                        </m:sup>
                      </m:sSup>
                      <m:r>
                        <a:rPr lang="es-CO" b="0" i="1" smtClean="0">
                          <a:latin typeface="Cambria Math" panose="02040503050406030204" pitchFamily="18" charset="0"/>
                        </a:rPr>
                        <m:t>+1,5</m:t>
                      </m:r>
                      <m:r>
                        <a:rPr lang="es-CO" b="0" i="1" smtClean="0">
                          <a:latin typeface="Cambria Math" panose="02040503050406030204" pitchFamily="18" charset="0"/>
                        </a:rPr>
                        <m:t>𝑘𝑧</m:t>
                      </m:r>
                      <m:r>
                        <a:rPr lang="es-CO" b="0" i="1" smtClean="0">
                          <a:latin typeface="Cambria Math" panose="02040503050406030204" pitchFamily="18" charset="0"/>
                        </a:rPr>
                        <m:t>−</m:t>
                      </m:r>
                      <m:d>
                        <m:dPr>
                          <m:ctrlPr>
                            <a:rPr lang="es-CO" b="0" i="1" smtClean="0">
                              <a:latin typeface="Cambria Math" panose="02040503050406030204" pitchFamily="18" charset="0"/>
                            </a:rPr>
                          </m:ctrlPr>
                        </m:dPr>
                        <m:e>
                          <m:r>
                            <a:rPr lang="es-CO" b="0" i="1" smtClean="0">
                              <a:latin typeface="Cambria Math" panose="02040503050406030204" pitchFamily="18" charset="0"/>
                            </a:rPr>
                            <m:t>𝑘</m:t>
                          </m:r>
                          <m:r>
                            <a:rPr lang="es-CO" b="0" i="1" smtClean="0">
                              <a:latin typeface="Cambria Math" panose="02040503050406030204" pitchFamily="18" charset="0"/>
                            </a:rPr>
                            <m:t>+1</m:t>
                          </m:r>
                        </m:e>
                      </m:d>
                      <m:r>
                        <a:rPr lang="es-CO" b="0" i="1" smtClean="0">
                          <a:latin typeface="Cambria Math" panose="02040503050406030204" pitchFamily="18" charset="0"/>
                        </a:rPr>
                        <m:t>=0</m:t>
                      </m:r>
                    </m:oMath>
                  </m:oMathPara>
                </a14:m>
                <a:endParaRPr lang="es-CO" dirty="0"/>
              </a:p>
            </p:txBody>
          </p:sp>
        </mc:Choice>
        <mc:Fallback xmlns="">
          <p:sp>
            <p:nvSpPr>
              <p:cNvPr id="9" name="CuadroTexto 8">
                <a:extLst>
                  <a:ext uri="{FF2B5EF4-FFF2-40B4-BE49-F238E27FC236}">
                    <a16:creationId xmlns:a16="http://schemas.microsoft.com/office/drawing/2014/main" id="{9919936F-0B35-EE64-31D2-B0813F39FCB2}"/>
                  </a:ext>
                </a:extLst>
              </p:cNvPr>
              <p:cNvSpPr txBox="1">
                <a:spLocks noRot="1" noChangeAspect="1" noMove="1" noResize="1" noEditPoints="1" noAdjustHandles="1" noChangeArrowheads="1" noChangeShapeType="1" noTextEdit="1"/>
              </p:cNvSpPr>
              <p:nvPr/>
            </p:nvSpPr>
            <p:spPr>
              <a:xfrm>
                <a:off x="925906" y="5821113"/>
                <a:ext cx="3180999" cy="276999"/>
              </a:xfrm>
              <a:prstGeom prst="rect">
                <a:avLst/>
              </a:prstGeom>
              <a:blipFill>
                <a:blip r:embed="rId5"/>
                <a:stretch>
                  <a:fillRect l="-575" t="-4444" r="-1149" b="-88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F62AB43-88C3-9EF6-B743-612325913CE8}"/>
                  </a:ext>
                </a:extLst>
              </p:cNvPr>
              <p:cNvSpPr txBox="1"/>
              <p:nvPr/>
            </p:nvSpPr>
            <p:spPr>
              <a:xfrm>
                <a:off x="925906" y="6214542"/>
                <a:ext cx="2882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b="0" i="1" smtClean="0">
                              <a:latin typeface="Cambria Math" panose="02040503050406030204" pitchFamily="18" charset="0"/>
                            </a:rPr>
                          </m:ctrlPr>
                        </m:sSupPr>
                        <m:e>
                          <m:r>
                            <a:rPr lang="es-CO" b="0" i="1" smtClean="0">
                              <a:latin typeface="Cambria Math" panose="02040503050406030204" pitchFamily="18" charset="0"/>
                            </a:rPr>
                            <m:t>𝑧</m:t>
                          </m:r>
                        </m:e>
                        <m:sup>
                          <m:r>
                            <a:rPr lang="es-CO" b="0" i="1" smtClean="0">
                              <a:latin typeface="Cambria Math" panose="02040503050406030204" pitchFamily="18" charset="0"/>
                            </a:rPr>
                            <m:t>2</m:t>
                          </m:r>
                        </m:sup>
                      </m:sSup>
                      <m:r>
                        <a:rPr lang="es-CO" b="0" i="1" smtClean="0">
                          <a:latin typeface="Cambria Math" panose="02040503050406030204" pitchFamily="18" charset="0"/>
                        </a:rPr>
                        <m:t>+</m:t>
                      </m:r>
                      <m:d>
                        <m:dPr>
                          <m:ctrlPr>
                            <a:rPr lang="es-CO" b="0" i="1" smtClean="0">
                              <a:latin typeface="Cambria Math" panose="02040503050406030204" pitchFamily="18" charset="0"/>
                            </a:rPr>
                          </m:ctrlPr>
                        </m:dPr>
                        <m:e>
                          <m:r>
                            <a:rPr lang="es-CO" b="0" i="1" smtClean="0">
                              <a:latin typeface="Cambria Math" panose="02040503050406030204" pitchFamily="18" charset="0"/>
                            </a:rPr>
                            <m:t>0,15</m:t>
                          </m:r>
                          <m:r>
                            <a:rPr lang="es-CO" b="0" i="1" smtClean="0">
                              <a:latin typeface="Cambria Math" panose="02040503050406030204" pitchFamily="18" charset="0"/>
                            </a:rPr>
                            <m:t>𝐾</m:t>
                          </m:r>
                          <m:r>
                            <a:rPr lang="es-CO" b="0" i="1" smtClean="0">
                              <a:latin typeface="Cambria Math" panose="02040503050406030204" pitchFamily="18" charset="0"/>
                            </a:rPr>
                            <m:t>−1,5</m:t>
                          </m:r>
                        </m:e>
                      </m:d>
                      <m:r>
                        <a:rPr lang="es-CO" b="0" i="1" smtClean="0">
                          <a:latin typeface="Cambria Math" panose="02040503050406030204" pitchFamily="18" charset="0"/>
                        </a:rPr>
                        <m:t>𝑧</m:t>
                      </m:r>
                      <m:r>
                        <a:rPr lang="es-CO" b="0" i="1" smtClean="0">
                          <a:latin typeface="Cambria Math" panose="02040503050406030204" pitchFamily="18" charset="0"/>
                        </a:rPr>
                        <m:t>+1=0</m:t>
                      </m:r>
                    </m:oMath>
                  </m:oMathPara>
                </a14:m>
                <a:endParaRPr lang="es-CO" dirty="0"/>
              </a:p>
            </p:txBody>
          </p:sp>
        </mc:Choice>
        <mc:Fallback xmlns="">
          <p:sp>
            <p:nvSpPr>
              <p:cNvPr id="12" name="CuadroTexto 11">
                <a:extLst>
                  <a:ext uri="{FF2B5EF4-FFF2-40B4-BE49-F238E27FC236}">
                    <a16:creationId xmlns:a16="http://schemas.microsoft.com/office/drawing/2014/main" id="{6F62AB43-88C3-9EF6-B743-612325913CE8}"/>
                  </a:ext>
                </a:extLst>
              </p:cNvPr>
              <p:cNvSpPr txBox="1">
                <a:spLocks noRot="1" noChangeAspect="1" noMove="1" noResize="1" noEditPoints="1" noAdjustHandles="1" noChangeArrowheads="1" noChangeShapeType="1" noTextEdit="1"/>
              </p:cNvSpPr>
              <p:nvPr/>
            </p:nvSpPr>
            <p:spPr>
              <a:xfrm>
                <a:off x="925906" y="6214542"/>
                <a:ext cx="2882777" cy="276999"/>
              </a:xfrm>
              <a:prstGeom prst="rect">
                <a:avLst/>
              </a:prstGeom>
              <a:blipFill>
                <a:blip r:embed="rId6"/>
                <a:stretch>
                  <a:fillRect l="-846" t="-4348" r="-1268" b="-652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3B4C841-9E0D-5872-C9FF-D596DA842873}"/>
                  </a:ext>
                </a:extLst>
              </p:cNvPr>
              <p:cNvSpPr txBox="1"/>
              <p:nvPr/>
            </p:nvSpPr>
            <p:spPr>
              <a:xfrm>
                <a:off x="4758112" y="5821113"/>
                <a:ext cx="27545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b="0" i="1" smtClean="0">
                              <a:latin typeface="Cambria Math" panose="02040503050406030204" pitchFamily="18" charset="0"/>
                            </a:rPr>
                          </m:ctrlPr>
                        </m:sSupPr>
                        <m:e>
                          <m:r>
                            <a:rPr lang="es-CO" b="0" i="1" smtClean="0">
                              <a:latin typeface="Cambria Math" panose="02040503050406030204" pitchFamily="18" charset="0"/>
                            </a:rPr>
                            <m:t>𝑧</m:t>
                          </m:r>
                        </m:e>
                        <m:sup>
                          <m:r>
                            <a:rPr lang="es-CO" b="0" i="1" smtClean="0">
                              <a:latin typeface="Cambria Math" panose="02040503050406030204" pitchFamily="18" charset="0"/>
                            </a:rPr>
                            <m:t>2</m:t>
                          </m:r>
                        </m:sup>
                      </m:sSup>
                      <m:r>
                        <a:rPr lang="es-CO" b="0" i="1" smtClean="0">
                          <a:latin typeface="Cambria Math" panose="02040503050406030204" pitchFamily="18" charset="0"/>
                        </a:rPr>
                        <m:t>+</m:t>
                      </m:r>
                      <m:d>
                        <m:dPr>
                          <m:ctrlPr>
                            <a:rPr lang="es-CO" b="0" i="1" smtClean="0">
                              <a:latin typeface="Cambria Math" panose="02040503050406030204" pitchFamily="18" charset="0"/>
                            </a:rPr>
                          </m:ctrlPr>
                        </m:dPr>
                        <m:e>
                          <m:r>
                            <a:rPr lang="es-CO" b="0" i="1" smtClean="0">
                              <a:latin typeface="Cambria Math" panose="02040503050406030204" pitchFamily="18" charset="0"/>
                            </a:rPr>
                            <m:t>0,1</m:t>
                          </m:r>
                          <m:r>
                            <a:rPr lang="es-CO" b="0" i="1" smtClean="0">
                              <a:latin typeface="Cambria Math" panose="02040503050406030204" pitchFamily="18" charset="0"/>
                            </a:rPr>
                            <m:t>𝐾</m:t>
                          </m:r>
                          <m:r>
                            <a:rPr lang="es-CO" b="0" i="1" smtClean="0">
                              <a:latin typeface="Cambria Math" panose="02040503050406030204" pitchFamily="18" charset="0"/>
                            </a:rPr>
                            <m:t>−1</m:t>
                          </m:r>
                        </m:e>
                      </m:d>
                      <m:r>
                        <a:rPr lang="es-CO" b="0" i="1" smtClean="0">
                          <a:latin typeface="Cambria Math" panose="02040503050406030204" pitchFamily="18" charset="0"/>
                        </a:rPr>
                        <m:t>𝑧</m:t>
                      </m:r>
                      <m:r>
                        <a:rPr lang="es-CO" b="0" i="1" smtClean="0">
                          <a:latin typeface="Cambria Math" panose="02040503050406030204" pitchFamily="18" charset="0"/>
                        </a:rPr>
                        <m:t>+0,5=0</m:t>
                      </m:r>
                    </m:oMath>
                  </m:oMathPara>
                </a14:m>
                <a:endParaRPr lang="es-CO" dirty="0"/>
              </a:p>
            </p:txBody>
          </p:sp>
        </mc:Choice>
        <mc:Fallback xmlns="">
          <p:sp>
            <p:nvSpPr>
              <p:cNvPr id="13" name="CuadroTexto 12">
                <a:extLst>
                  <a:ext uri="{FF2B5EF4-FFF2-40B4-BE49-F238E27FC236}">
                    <a16:creationId xmlns:a16="http://schemas.microsoft.com/office/drawing/2014/main" id="{23B4C841-9E0D-5872-C9FF-D596DA842873}"/>
                  </a:ext>
                </a:extLst>
              </p:cNvPr>
              <p:cNvSpPr txBox="1">
                <a:spLocks noRot="1" noChangeAspect="1" noMove="1" noResize="1" noEditPoints="1" noAdjustHandles="1" noChangeArrowheads="1" noChangeShapeType="1" noTextEdit="1"/>
              </p:cNvSpPr>
              <p:nvPr/>
            </p:nvSpPr>
            <p:spPr>
              <a:xfrm>
                <a:off x="4758112" y="5821113"/>
                <a:ext cx="2754537" cy="276999"/>
              </a:xfrm>
              <a:prstGeom prst="rect">
                <a:avLst/>
              </a:prstGeom>
              <a:blipFill>
                <a:blip r:embed="rId7"/>
                <a:stretch>
                  <a:fillRect l="-887" t="-4444" r="-1774" b="-88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401EB47-DA13-42D2-E27E-449228EB7F3F}"/>
                  </a:ext>
                </a:extLst>
              </p:cNvPr>
              <p:cNvSpPr txBox="1"/>
              <p:nvPr/>
            </p:nvSpPr>
            <p:spPr>
              <a:xfrm>
                <a:off x="4758112" y="6177164"/>
                <a:ext cx="39296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b="0" i="1" smtClean="0">
                              <a:latin typeface="Cambria Math" panose="02040503050406030204" pitchFamily="18" charset="0"/>
                            </a:rPr>
                          </m:ctrlPr>
                        </m:sSupPr>
                        <m:e>
                          <m:r>
                            <a:rPr lang="es-CO" b="0" i="1" smtClean="0">
                              <a:latin typeface="Cambria Math" panose="02040503050406030204" pitchFamily="18" charset="0"/>
                            </a:rPr>
                            <m:t>𝑧</m:t>
                          </m:r>
                        </m:e>
                        <m:sup>
                          <m:r>
                            <a:rPr lang="es-CO" b="0" i="1" smtClean="0">
                              <a:latin typeface="Cambria Math" panose="02040503050406030204" pitchFamily="18" charset="0"/>
                            </a:rPr>
                            <m:t>2</m:t>
                          </m:r>
                        </m:sup>
                      </m:sSup>
                      <m:r>
                        <a:rPr lang="es-CO" b="0" i="1" smtClean="0">
                          <a:latin typeface="Cambria Math" panose="02040503050406030204" pitchFamily="18" charset="0"/>
                        </a:rPr>
                        <m:t>+</m:t>
                      </m:r>
                      <m:d>
                        <m:dPr>
                          <m:ctrlPr>
                            <a:rPr lang="es-CO" b="0" i="1" smtClean="0">
                              <a:latin typeface="Cambria Math" panose="02040503050406030204" pitchFamily="18" charset="0"/>
                            </a:rPr>
                          </m:ctrlPr>
                        </m:dPr>
                        <m:e>
                          <m:r>
                            <a:rPr lang="es-CO" b="0" i="1" smtClean="0">
                              <a:latin typeface="Cambria Math" panose="02040503050406030204" pitchFamily="18" charset="0"/>
                            </a:rPr>
                            <m:t>0,4−0,14</m:t>
                          </m:r>
                          <m:r>
                            <a:rPr lang="es-CO" b="0" i="1" smtClean="0">
                              <a:latin typeface="Cambria Math" panose="02040503050406030204" pitchFamily="18" charset="0"/>
                            </a:rPr>
                            <m:t>𝑘</m:t>
                          </m:r>
                        </m:e>
                      </m:d>
                      <m:r>
                        <a:rPr lang="es-CO" b="0" i="1" smtClean="0">
                          <a:latin typeface="Cambria Math" panose="02040503050406030204" pitchFamily="18" charset="0"/>
                        </a:rPr>
                        <m:t>𝑧</m:t>
                      </m:r>
                      <m:r>
                        <a:rPr lang="es-CO" b="0" i="1" smtClean="0">
                          <a:latin typeface="Cambria Math" panose="02040503050406030204" pitchFamily="18" charset="0"/>
                        </a:rPr>
                        <m:t>+(0,5+0,5</m:t>
                      </m:r>
                      <m:r>
                        <a:rPr lang="es-CO" b="0" i="1" smtClean="0">
                          <a:latin typeface="Cambria Math" panose="02040503050406030204" pitchFamily="18" charset="0"/>
                        </a:rPr>
                        <m:t>𝑘</m:t>
                      </m:r>
                      <m:r>
                        <a:rPr lang="es-CO" b="0" i="1" smtClean="0">
                          <a:latin typeface="Cambria Math" panose="02040503050406030204" pitchFamily="18" charset="0"/>
                        </a:rPr>
                        <m:t>)=0</m:t>
                      </m:r>
                    </m:oMath>
                  </m:oMathPara>
                </a14:m>
                <a:endParaRPr lang="es-CO" dirty="0"/>
              </a:p>
            </p:txBody>
          </p:sp>
        </mc:Choice>
        <mc:Fallback xmlns="">
          <p:sp>
            <p:nvSpPr>
              <p:cNvPr id="15" name="CuadroTexto 14">
                <a:extLst>
                  <a:ext uri="{FF2B5EF4-FFF2-40B4-BE49-F238E27FC236}">
                    <a16:creationId xmlns:a16="http://schemas.microsoft.com/office/drawing/2014/main" id="{0401EB47-DA13-42D2-E27E-449228EB7F3F}"/>
                  </a:ext>
                </a:extLst>
              </p:cNvPr>
              <p:cNvSpPr txBox="1">
                <a:spLocks noRot="1" noChangeAspect="1" noMove="1" noResize="1" noEditPoints="1" noAdjustHandles="1" noChangeArrowheads="1" noChangeShapeType="1" noTextEdit="1"/>
              </p:cNvSpPr>
              <p:nvPr/>
            </p:nvSpPr>
            <p:spPr>
              <a:xfrm>
                <a:off x="4758112" y="6177164"/>
                <a:ext cx="3929602" cy="276999"/>
              </a:xfrm>
              <a:prstGeom prst="rect">
                <a:avLst/>
              </a:prstGeom>
              <a:blipFill>
                <a:blip r:embed="rId8"/>
                <a:stretch>
                  <a:fillRect l="-466" t="-4348" r="-932" b="-32609"/>
                </a:stretch>
              </a:blipFill>
            </p:spPr>
            <p:txBody>
              <a:bodyPr/>
              <a:lstStyle/>
              <a:p>
                <a:r>
                  <a:rPr lang="es-CO">
                    <a:noFill/>
                  </a:rPr>
                  <a:t> </a:t>
                </a:r>
              </a:p>
            </p:txBody>
          </p:sp>
        </mc:Fallback>
      </mc:AlternateContent>
    </p:spTree>
    <p:extLst>
      <p:ext uri="{BB962C8B-B14F-4D97-AF65-F5344CB8AC3E}">
        <p14:creationId xmlns:p14="http://schemas.microsoft.com/office/powerpoint/2010/main" val="413382486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25853C-1B27-4995-A583-4D39F900BB7F}">
  <ds:schemaRefs>
    <ds:schemaRef ds:uri="669280c1-d17e-4d1d-bd7f-b4f14cc6bf1d"/>
    <ds:schemaRef ds:uri="bdc56f61-abc0-4f7e-bfec-a93ccd1ae88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3.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TotalTime>
  <Words>1060</Words>
  <Application>Microsoft Office PowerPoint</Application>
  <PresentationFormat>Carta (216 x 279 mm)</PresentationFormat>
  <Paragraphs>284</Paragraphs>
  <Slides>23</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Arial</vt:lpstr>
      <vt:lpstr>Calibri</vt:lpstr>
      <vt:lpstr>Calibri Light</vt:lpstr>
      <vt:lpstr>Cambria Math</vt:lpstr>
      <vt:lpstr>Menlo</vt:lpstr>
      <vt:lpstr>Söhne</vt:lpstr>
      <vt:lpstr>Tema de Office</vt:lpstr>
      <vt:lpstr>1</vt:lpstr>
      <vt:lpstr>OBJETIVO</vt:lpstr>
      <vt:lpstr>LGR</vt:lpstr>
      <vt:lpstr>LGR</vt:lpstr>
      <vt:lpstr>Paso a Paso 1) Hallar los puntos donde K=0</vt:lpstr>
      <vt:lpstr>Paso a Paso 2) Hallar los puntos donde K=±∞</vt:lpstr>
      <vt:lpstr>Paso a Paso 3) Número de LGR separados</vt:lpstr>
      <vt:lpstr>Paso a Paso 4) Simetría</vt:lpstr>
      <vt:lpstr>Paso a Paso 5) Asíntotas</vt:lpstr>
      <vt:lpstr>Paso a Paso 6) Intersección asíntotas </vt:lpstr>
      <vt:lpstr>Paso a Paso 7) LGR</vt:lpstr>
      <vt:lpstr>Paso a Paso 8) LGR</vt:lpstr>
      <vt:lpstr>Paso a Paso 8) Puntos de ruptura:</vt:lpstr>
      <vt:lpstr>Actividad Individual</vt:lpstr>
      <vt:lpstr>LGR</vt:lpstr>
      <vt:lpstr>LGR</vt:lpstr>
      <vt:lpstr>LGR</vt:lpstr>
      <vt:lpstr>LGR</vt:lpstr>
      <vt:lpstr>LGR</vt:lpstr>
      <vt:lpstr>LGR</vt:lpstr>
      <vt:lpstr>LGR</vt:lpstr>
      <vt:lpstr>Actividad Individual</vt:lpstr>
      <vt:lpstr>TALLER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1</cp:revision>
  <dcterms:created xsi:type="dcterms:W3CDTF">2008-03-11T21:51:34Z</dcterms:created>
  <dcterms:modified xsi:type="dcterms:W3CDTF">2025-11-08T13:30:12Z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